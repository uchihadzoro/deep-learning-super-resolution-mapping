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Problem to gap to solution. Numbers are measured on five Indian study areas; the images are real prototype output.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Flowchart and architecture reflect the running prototype. v2 items are marked.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Diagram: solid = running in v1, dashed = planned v2. Pillars map 1:1 to the PS: fidelity, detail, uncertainty.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All measured values come from the prototype's automatic validation on five Indian scenes. Targets for v2 are stated separately.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References grouped by domain; each key finding maps to a design decision.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Sentinels_W, PS 26142 (NTRO), Space Technology. The QR code opens the working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3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24.png"/><Relationship Id="rId6" Type="http://schemas.openxmlformats.org/officeDocument/2006/relationships/image" Target="../media/image3.png"/><Relationship Id="rId7" Type="http://schemas.openxmlformats.org/officeDocument/2006/relationships/image" Target="../media/image42.png"/><Relationship Id="rId8" Type="http://schemas.openxmlformats.org/officeDocument/2006/relationships/image" Target="../media/image25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905000"/>
            <a:ext cx="5924550" cy="457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700" b="0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26142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7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Based Super Resolution Mapping (SRM) from Medium Resolution Satellite Imageries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700" b="0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700" b="0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1700" b="0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190286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1700" b="0" dirty="0">
                <a:solidFill>
                  <a:srgbClr val="1A1F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Sentinels_W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0312400" y="4902200"/>
            <a:ext cx="14986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qr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4978400"/>
            <a:ext cx="889000" cy="889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312400" y="5918200"/>
            <a:ext cx="14986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1F3864"/>
                </a:solidFill>
                <a:latin typeface="Arial"/>
              </a:rPr>
              <a:t>Live prototype</a:t>
            </a:r>
          </a:p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56070"/>
                </a:solidFill>
                <a:latin typeface="Arial"/>
              </a:rPr>
              <a:t>scan to open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14500" y="177800"/>
            <a:ext cx="8026400" cy="787400"/>
          </a:xfrm>
        </p:spPr>
        <p:txBody>
          <a:bodyPr wrap="square" anchor="ctr"/>
          <a:lstStyle/>
          <a:p>
            <a:pPr eaLnBrk="1" hangingPunct="1"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&amp; SOLUTION OVERVIEW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5400" rIns="25400"/>
          <a:lstStyle/>
          <a:p>
            <a:pPr algn="ctr"/>
            <a:r>
              <a:rPr lang="en-US" dirty="0" sz="1100" b="1">
                <a:solidFill>
                  <a:srgbClr val="1F3864"/>
                </a:solidFill>
              </a:rPr>
              <a:t>Sentinels_W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81000" y="1143000"/>
            <a:ext cx="3683000" cy="1016000"/>
          </a:xfrm>
          <a:prstGeom prst="roundRect">
            <a:avLst>
              <a:gd name="adj" fmla="val 6000"/>
            </a:avLst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508000" y="1219200"/>
            <a:ext cx="3429000" cy="88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50" b="1" i="0" u="none">
                <a:solidFill>
                  <a:srgbClr val="FFB454"/>
                </a:solidFill>
                <a:latin typeface="Arial"/>
              </a:rPr>
              <a:t>PS 26142 · NTRO · SPACE TECHNOLOGY</a:t>
            </a:r>
          </a:p>
          <a:p>
            <a:pPr algn="l">
              <a:spcAft>
                <a:spcPts val="300"/>
              </a:spcAft>
            </a:pPr>
            <a:r>
              <a:rPr sz="930" b="1" i="0" u="none">
                <a:solidFill>
                  <a:srgbClr val="FFFFFF"/>
                </a:solidFill>
                <a:latin typeface="Arial"/>
              </a:rPr>
              <a:t>Deep-learning super-resolution mapping from medium-resolution satellite imagery</a:t>
            </a:r>
          </a:p>
          <a:p>
            <a:pPr algn="l">
              <a:spcAft>
                <a:spcPts val="0"/>
              </a:spcAft>
            </a:pPr>
            <a:r>
              <a:rPr sz="740" b="1" i="0" u="none">
                <a:solidFill>
                  <a:srgbClr val="C9D6EA"/>
                </a:solidFill>
                <a:latin typeface="Arial"/>
              </a:rPr>
              <a:t>Asks for: </a:t>
            </a:r>
            <a:r>
              <a:rPr sz="740" b="0" i="0" u="none">
                <a:solidFill>
                  <a:srgbClr val="C9D6EA"/>
                </a:solidFill>
                <a:latin typeface="Arial"/>
              </a:rPr>
              <a:t>Sentinel-2 10 m → &lt; 4 m · geo &amp; spectral consistency · explicit uncertainty · validation against HR reference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91000" y="1143000"/>
            <a:ext cx="2387600" cy="1016000"/>
          </a:xfrm>
          <a:prstGeom prst="roundRect">
            <a:avLst>
              <a:gd name="adj" fmla="val 8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Oval 15364"/>
          <p:cNvSpPr/>
          <p:nvPr/>
        </p:nvSpPr>
        <p:spPr>
          <a:xfrm>
            <a:off x="4292600" y="1244600"/>
            <a:ext cx="228600" cy="228600"/>
          </a:xfrm>
          <a:prstGeom prst="ellipse">
            <a:avLst/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6" name="Picture 15365" descr="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464" y="1299464"/>
            <a:ext cx="118872" cy="118872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4584700" y="1244600"/>
            <a:ext cx="19304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E97A1F"/>
                </a:solidFill>
                <a:latin typeface="Arial"/>
              </a:rPr>
              <a:t>PROBLEM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292600" y="1524000"/>
            <a:ext cx="22098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60" b="0" i="0" u="none">
                <a:solidFill>
                  <a:srgbClr val="1A1F2B"/>
                </a:solidFill>
                <a:latin typeface="Arial"/>
              </a:rPr>
              <a:t>10 m pixels hide small buildings, narrow roads, field bunds and localised damage, which limits classification, change detection and response.</a:t>
            </a:r>
          </a:p>
        </p:txBody>
      </p:sp>
      <p:sp>
        <p:nvSpPr>
          <p:cNvPr id="15369" name="Chevron 15368"/>
          <p:cNvSpPr/>
          <p:nvPr/>
        </p:nvSpPr>
        <p:spPr>
          <a:xfrm>
            <a:off x="6629400" y="1549400"/>
            <a:ext cx="127000" cy="203200"/>
          </a:xfrm>
          <a:prstGeom prst="chevron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6807200" y="1143000"/>
            <a:ext cx="2387600" cy="10160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Oval 15370"/>
          <p:cNvSpPr/>
          <p:nvPr/>
        </p:nvSpPr>
        <p:spPr>
          <a:xfrm>
            <a:off x="6908800" y="1244600"/>
            <a:ext cx="228600" cy="228600"/>
          </a:xfrm>
          <a:prstGeom prst="ellipse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2" name="Picture 15371" descr="crosshai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664" y="1299464"/>
            <a:ext cx="118872" cy="118872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7200900" y="1244600"/>
            <a:ext cx="19304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C63D3D"/>
                </a:solidFill>
                <a:latin typeface="Arial"/>
              </a:rPr>
              <a:t>GAP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908800" y="1524000"/>
            <a:ext cx="22098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60" b="0" i="0" u="none">
                <a:solidFill>
                  <a:srgbClr val="1A1F2B"/>
                </a:solidFill>
                <a:latin typeface="Arial"/>
              </a:rPr>
              <a:t>Commercial VHR is costly and must be tasked. Generic SR hallucinates, alters radiometry and reports no confidence.</a:t>
            </a:r>
          </a:p>
        </p:txBody>
      </p:sp>
      <p:sp>
        <p:nvSpPr>
          <p:cNvPr id="15375" name="Chevron 15374"/>
          <p:cNvSpPr/>
          <p:nvPr/>
        </p:nvSpPr>
        <p:spPr>
          <a:xfrm>
            <a:off x="9245600" y="1549400"/>
            <a:ext cx="127000" cy="203200"/>
          </a:xfrm>
          <a:prstGeom prst="chevron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9423400" y="1143000"/>
            <a:ext cx="2387600" cy="101600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Oval 15376"/>
          <p:cNvSpPr/>
          <p:nvPr/>
        </p:nvSpPr>
        <p:spPr>
          <a:xfrm>
            <a:off x="9525000" y="1244600"/>
            <a:ext cx="228600" cy="228600"/>
          </a:xfrm>
          <a:prstGeom prst="ellipse">
            <a:avLst/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8" name="Picture 15377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9864" y="1299464"/>
            <a:ext cx="118872" cy="118872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9817100" y="1244600"/>
            <a:ext cx="19304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2E9E48"/>
                </a:solidFill>
                <a:latin typeface="Arial"/>
              </a:rPr>
              <a:t>SOLUTION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9525000" y="1524000"/>
            <a:ext cx="22098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60" b="0" i="0" u="none">
                <a:solidFill>
                  <a:srgbClr val="1A1F2B"/>
                </a:solidFill>
                <a:latin typeface="Arial"/>
              </a:rPr>
              <a:t>TRINETRA-SR: physics-constrained 4× SR on all 10 bands, a per-pixel trust map, and it runs anywhere, even offline.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381000" y="22606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1050" b="1" i="0" u="sng">
                <a:solidFill>
                  <a:srgbClr val="1F3864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381000" y="2514600"/>
            <a:ext cx="71755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06400" y="2717800"/>
            <a:ext cx="7150100" cy="1066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14300" indent="-114300">
              <a:lnSpc>
                <a:spcPct val="105000"/>
              </a:lnSpc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900" b="1" i="0" u="none">
                <a:solidFill>
                  <a:srgbClr val="1A1F2B"/>
                </a:solidFill>
                <a:latin typeface="Arial"/>
              </a:rPr>
              <a:t>Input: 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Sentinel-2 L2A, 10 bands (B2–B8A, B11, B12), chosen by cloud-aware search or uploaded as a GeoTIFF.</a:t>
            </a:r>
          </a:p>
          <a:p>
            <a:pPr algn="l" marL="114300" indent="-114300">
              <a:lnSpc>
                <a:spcPct val="105000"/>
              </a:lnSpc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900" b="1" i="0" u="none">
                <a:solidFill>
                  <a:srgbClr val="1A1F2B"/>
                </a:solidFill>
                <a:latin typeface="Arial"/>
              </a:rPr>
              <a:t>Model: 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deep SR backbone + </a:t>
            </a:r>
            <a:r>
              <a:rPr sz="900" b="1" i="0" u="none">
                <a:solidFill>
                  <a:srgbClr val="1A1F2B"/>
                </a:solidFill>
                <a:latin typeface="Arial"/>
              </a:rPr>
              <a:t>low-frequency hard constraint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 (FFT), so the network can only add detail, never change measured radiometry.</a:t>
            </a:r>
          </a:p>
          <a:p>
            <a:pPr algn="l" marL="114300" indent="-114300">
              <a:lnSpc>
                <a:spcPct val="105000"/>
              </a:lnSpc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900" b="1" i="0" u="none">
                <a:solidFill>
                  <a:srgbClr val="1A1F2B"/>
                </a:solidFill>
                <a:latin typeface="Arial"/>
              </a:rPr>
              <a:t>Output: 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2.5 m 10-band GeoTIFF + σ-uncertainty GeoTIFF + validation metrics, in the source UTM grid.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381000" y="3822700"/>
            <a:ext cx="71755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06400" y="4025900"/>
            <a:ext cx="7150100" cy="1066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14300" indent="-114300">
              <a:lnSpc>
                <a:spcPct val="105000"/>
              </a:lnSpc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900" b="1" i="0" u="none">
                <a:solidFill>
                  <a:srgbClr val="1A1F2B"/>
                </a:solidFill>
                <a:latin typeface="Arial"/>
              </a:rPr>
              <a:t>Fine-scale interpretation: 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roofs, stadiums, bunds and debris tracks resolved (1.17× edge energy vs bicubic).</a:t>
            </a:r>
          </a:p>
          <a:p>
            <a:pPr algn="l" marL="114300" indent="-114300">
              <a:lnSpc>
                <a:spcPct val="105000"/>
              </a:lnSpc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900" b="1" i="0" u="none">
                <a:solidFill>
                  <a:srgbClr val="1A1F2B"/>
                </a:solidFill>
                <a:latin typeface="Arial"/>
              </a:rPr>
              <a:t>Consistency by construction: 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degrading the output reproduces the input at </a:t>
            </a:r>
            <a:r>
              <a:rPr sz="900" b="1" i="0" u="none">
                <a:solidFill>
                  <a:srgbClr val="1A1F2B"/>
                </a:solidFill>
                <a:latin typeface="Arial"/>
              </a:rPr>
              <a:t>51.1 dB (10 m) / 36.8 dB (20 m)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, spectral angle 0.48 degrees.</a:t>
            </a:r>
          </a:p>
          <a:p>
            <a:pPr algn="l" marL="114300" indent="-114300">
              <a:lnSpc>
                <a:spcPct val="105000"/>
              </a:lnSpc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900" b="1" i="0" u="none">
                <a:solidFill>
                  <a:srgbClr val="1A1F2B"/>
                </a:solidFill>
                <a:latin typeface="Arial"/>
              </a:rPr>
              <a:t>Uncertainty handled: </a:t>
            </a:r>
            <a:r>
              <a:rPr sz="900" b="0" i="0" u="none">
                <a:solidFill>
                  <a:srgbClr val="1A1F2B"/>
                </a:solidFill>
                <a:latin typeface="Arial"/>
              </a:rPr>
              <a:t>inferred detail is flagged pixel by pixel; mean σ = 0.0008 reflectance.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7696200" y="2260600"/>
            <a:ext cx="4114800" cy="2379133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TextBox 15386"/>
          <p:cNvSpPr txBox="1"/>
          <p:nvPr/>
        </p:nvSpPr>
        <p:spPr>
          <a:xfrm>
            <a:off x="7823200" y="2336800"/>
            <a:ext cx="38608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Prototype output · M. Chinnaswamy Stadium, Bengaluru · 13 Mar 2024</a:t>
            </a:r>
          </a:p>
        </p:txBody>
      </p:sp>
      <p:pic>
        <p:nvPicPr>
          <p:cNvPr id="15388" name="Picture 15387" descr="blr_10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200" y="2540000"/>
            <a:ext cx="1236133" cy="1236133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5389" name="TextBox 15388"/>
          <p:cNvSpPr txBox="1"/>
          <p:nvPr/>
        </p:nvSpPr>
        <p:spPr>
          <a:xfrm>
            <a:off x="7823200" y="3788833"/>
            <a:ext cx="1236133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Sentinel-2 · 10 m</a:t>
            </a:r>
          </a:p>
        </p:txBody>
      </p:sp>
      <p:pic>
        <p:nvPicPr>
          <p:cNvPr id="15390" name="Picture 15389" descr="blr_bi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5533" y="2540000"/>
            <a:ext cx="1236133" cy="1236133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5391" name="TextBox 15390"/>
          <p:cNvSpPr txBox="1"/>
          <p:nvPr/>
        </p:nvSpPr>
        <p:spPr>
          <a:xfrm>
            <a:off x="9135533" y="3788833"/>
            <a:ext cx="1236133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Bicubic · 2.5 m</a:t>
            </a:r>
          </a:p>
        </p:txBody>
      </p:sp>
      <p:pic>
        <p:nvPicPr>
          <p:cNvPr id="15392" name="Picture 15391" descr="blr_s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7866" y="2540000"/>
            <a:ext cx="1236133" cy="1236133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5393" name="TextBox 15392"/>
          <p:cNvSpPr txBox="1"/>
          <p:nvPr/>
        </p:nvSpPr>
        <p:spPr>
          <a:xfrm>
            <a:off x="10447866" y="3788833"/>
            <a:ext cx="1236133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2E9E48"/>
                </a:solidFill>
                <a:latin typeface="Arial"/>
              </a:rPr>
              <a:t>TRINETRA-SR · 2.5 m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7823200" y="4004733"/>
            <a:ext cx="917575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5" name="TextBox 15394"/>
          <p:cNvSpPr txBox="1"/>
          <p:nvPr/>
        </p:nvSpPr>
        <p:spPr>
          <a:xfrm>
            <a:off x="7823200" y="4042833"/>
            <a:ext cx="917575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4×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7823200" y="4296833"/>
            <a:ext cx="917575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resolution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8804275" y="4004733"/>
            <a:ext cx="917575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8" name="TextBox 15397"/>
          <p:cNvSpPr txBox="1"/>
          <p:nvPr/>
        </p:nvSpPr>
        <p:spPr>
          <a:xfrm>
            <a:off x="8804275" y="4042833"/>
            <a:ext cx="917575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10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804275" y="4296833"/>
            <a:ext cx="917575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bands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9785350" y="4004733"/>
            <a:ext cx="917575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1" name="TextBox 15400"/>
          <p:cNvSpPr txBox="1"/>
          <p:nvPr/>
        </p:nvSpPr>
        <p:spPr>
          <a:xfrm>
            <a:off x="9785350" y="4042833"/>
            <a:ext cx="917575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E97A1F"/>
                </a:solidFill>
                <a:latin typeface="Arial"/>
              </a:rPr>
              <a:t>51 dB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9785350" y="4296833"/>
            <a:ext cx="917575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consistency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10766425" y="4004733"/>
            <a:ext cx="917575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4" name="TextBox 15403"/>
          <p:cNvSpPr txBox="1"/>
          <p:nvPr/>
        </p:nvSpPr>
        <p:spPr>
          <a:xfrm>
            <a:off x="10766425" y="4042833"/>
            <a:ext cx="917575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19 MB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10766425" y="4296833"/>
            <a:ext cx="917575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model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381000" y="49530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1050" b="1" i="0" u="sng">
                <a:solidFill>
                  <a:srgbClr val="1F3864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381000" y="5181600"/>
            <a:ext cx="2225040" cy="6350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8" name="Oval 15407"/>
          <p:cNvSpPr/>
          <p:nvPr/>
        </p:nvSpPr>
        <p:spPr>
          <a:xfrm>
            <a:off x="457200" y="5346700"/>
            <a:ext cx="304800" cy="3048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9" name="Picture 15408" descr="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" y="5419852"/>
            <a:ext cx="158496" cy="158496"/>
          </a:xfrm>
          <a:prstGeom prst="rect">
            <a:avLst/>
          </a:prstGeom>
        </p:spPr>
      </p:pic>
      <p:sp>
        <p:nvSpPr>
          <p:cNvPr id="15410" name="TextBox 15409"/>
          <p:cNvSpPr txBox="1"/>
          <p:nvPr/>
        </p:nvSpPr>
        <p:spPr>
          <a:xfrm>
            <a:off x="825500" y="5207000"/>
            <a:ext cx="1742439" cy="584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Trust map</a:t>
            </a:r>
          </a:p>
          <a:p>
            <a:pPr algn="l">
              <a:spcAft>
                <a:spcPts val="0"/>
              </a:spcAft>
            </a:pPr>
            <a:r>
              <a:rPr sz="730" b="0" i="0" u="none">
                <a:solidFill>
                  <a:srgbClr val="556070"/>
                </a:solidFill>
                <a:latin typeface="Arial"/>
              </a:rPr>
              <a:t>σ layer + validation on every product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2682240" y="5181600"/>
            <a:ext cx="2225040" cy="6350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2" name="Oval 15411"/>
          <p:cNvSpPr/>
          <p:nvPr/>
        </p:nvSpPr>
        <p:spPr>
          <a:xfrm>
            <a:off x="2758440" y="5346700"/>
            <a:ext cx="304800" cy="304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3" name="Picture 15412" descr="wav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1591" y="5419852"/>
            <a:ext cx="158496" cy="158496"/>
          </a:xfrm>
          <a:prstGeom prst="rect">
            <a:avLst/>
          </a:prstGeom>
        </p:spPr>
      </p:pic>
      <p:sp>
        <p:nvSpPr>
          <p:cNvPr id="15414" name="TextBox 15413"/>
          <p:cNvSpPr txBox="1"/>
          <p:nvPr/>
        </p:nvSpPr>
        <p:spPr>
          <a:xfrm>
            <a:off x="3126740" y="5207000"/>
            <a:ext cx="1742439" cy="584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Physics-consistent</a:t>
            </a:r>
          </a:p>
          <a:p>
            <a:pPr algn="l">
              <a:spcAft>
                <a:spcPts val="0"/>
              </a:spcAft>
            </a:pPr>
            <a:r>
              <a:rPr sz="730" b="0" i="0" u="none">
                <a:solidFill>
                  <a:srgbClr val="556070"/>
                </a:solidFill>
                <a:latin typeface="Arial"/>
              </a:rPr>
              <a:t>FFT hard constraint keeps radiometry</a:t>
            </a:r>
          </a:p>
        </p:txBody>
      </p:sp>
      <p:sp>
        <p:nvSpPr>
          <p:cNvPr id="15415" name="Rounded Rectangle 15414"/>
          <p:cNvSpPr/>
          <p:nvPr/>
        </p:nvSpPr>
        <p:spPr>
          <a:xfrm>
            <a:off x="4983480" y="5181600"/>
            <a:ext cx="2225040" cy="6350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6" name="Oval 15415"/>
          <p:cNvSpPr/>
          <p:nvPr/>
        </p:nvSpPr>
        <p:spPr>
          <a:xfrm>
            <a:off x="5059680" y="5346700"/>
            <a:ext cx="304800" cy="304800"/>
          </a:xfrm>
          <a:prstGeom prst="ellipse">
            <a:avLst/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7" name="Picture 15416" descr="laye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2832" y="5419852"/>
            <a:ext cx="158496" cy="158496"/>
          </a:xfrm>
          <a:prstGeom prst="rect">
            <a:avLst/>
          </a:prstGeom>
        </p:spPr>
      </p:pic>
      <p:sp>
        <p:nvSpPr>
          <p:cNvPr id="15418" name="TextBox 15417"/>
          <p:cNvSpPr txBox="1"/>
          <p:nvPr/>
        </p:nvSpPr>
        <p:spPr>
          <a:xfrm>
            <a:off x="5427980" y="5207000"/>
            <a:ext cx="1742439" cy="584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All-band 2.5 m</a:t>
            </a:r>
          </a:p>
          <a:p>
            <a:pPr algn="l">
              <a:spcAft>
                <a:spcPts val="0"/>
              </a:spcAft>
            </a:pPr>
            <a:r>
              <a:rPr sz="730" b="0" i="0" u="none">
                <a:solidFill>
                  <a:srgbClr val="556070"/>
                </a:solidFill>
                <a:latin typeface="Arial"/>
              </a:rPr>
              <a:t>NDVI · NDRE · NBR at 2.5 m</a:t>
            </a:r>
          </a:p>
        </p:txBody>
      </p:sp>
      <p:sp>
        <p:nvSpPr>
          <p:cNvPr id="15419" name="Rounded Rectangle 15418"/>
          <p:cNvSpPr/>
          <p:nvPr/>
        </p:nvSpPr>
        <p:spPr>
          <a:xfrm>
            <a:off x="7284719" y="5181600"/>
            <a:ext cx="2225040" cy="6350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0" name="Oval 15419"/>
          <p:cNvSpPr/>
          <p:nvPr/>
        </p:nvSpPr>
        <p:spPr>
          <a:xfrm>
            <a:off x="7360919" y="5346700"/>
            <a:ext cx="304800" cy="304800"/>
          </a:xfrm>
          <a:prstGeom prst="ellipse">
            <a:avLst/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1" name="Picture 15420" descr="lapto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4071" y="5419852"/>
            <a:ext cx="158496" cy="158496"/>
          </a:xfrm>
          <a:prstGeom prst="rect">
            <a:avLst/>
          </a:prstGeom>
        </p:spPr>
      </p:pic>
      <p:sp>
        <p:nvSpPr>
          <p:cNvPr id="15422" name="TextBox 15421"/>
          <p:cNvSpPr txBox="1"/>
          <p:nvPr/>
        </p:nvSpPr>
        <p:spPr>
          <a:xfrm>
            <a:off x="7729219" y="5207000"/>
            <a:ext cx="1742439" cy="584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Zero-server</a:t>
            </a:r>
          </a:p>
          <a:p>
            <a:pPr algn="l">
              <a:spcAft>
                <a:spcPts val="0"/>
              </a:spcAft>
            </a:pPr>
            <a:r>
              <a:rPr sz="730" b="0" i="0" u="none">
                <a:solidFill>
                  <a:srgbClr val="556070"/>
                </a:solidFill>
                <a:latin typeface="Arial"/>
              </a:rPr>
              <a:t>19 MB, runs offline / air-gapped</a:t>
            </a:r>
          </a:p>
        </p:txBody>
      </p:sp>
      <p:sp>
        <p:nvSpPr>
          <p:cNvPr id="15423" name="Rounded Rectangle 15422"/>
          <p:cNvSpPr/>
          <p:nvPr/>
        </p:nvSpPr>
        <p:spPr>
          <a:xfrm>
            <a:off x="9585960" y="5181600"/>
            <a:ext cx="2225040" cy="6350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4" name="Oval 15423"/>
          <p:cNvSpPr/>
          <p:nvPr/>
        </p:nvSpPr>
        <p:spPr>
          <a:xfrm>
            <a:off x="9662160" y="5346700"/>
            <a:ext cx="304800" cy="304800"/>
          </a:xfrm>
          <a:prstGeom prst="ellipse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5" name="Picture 15424" descr="cloc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35312" y="5419852"/>
            <a:ext cx="158496" cy="158496"/>
          </a:xfrm>
          <a:prstGeom prst="rect">
            <a:avLst/>
          </a:prstGeom>
        </p:spPr>
      </p:pic>
      <p:sp>
        <p:nvSpPr>
          <p:cNvPr id="15426" name="TextBox 15425"/>
          <p:cNvSpPr txBox="1"/>
          <p:nvPr/>
        </p:nvSpPr>
        <p:spPr>
          <a:xfrm>
            <a:off x="10030460" y="5207000"/>
            <a:ext cx="1742439" cy="584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Multi-temporal + conformal</a:t>
            </a:r>
          </a:p>
          <a:p>
            <a:pPr algn="l">
              <a:spcAft>
                <a:spcPts val="0"/>
              </a:spcAft>
            </a:pPr>
            <a:r>
              <a:rPr sz="730" b="0" i="0" u="none">
                <a:solidFill>
                  <a:srgbClr val="556070"/>
                </a:solidFill>
                <a:latin typeface="Arial"/>
              </a:rPr>
              <a:t>observed detail, guaranteed intervals (v2)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381000" y="60706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3864"/>
                </a:solidFill>
                <a:latin typeface="Arial"/>
              </a:rPr>
              <a:t>Tech stack</a:t>
            </a:r>
          </a:p>
        </p:txBody>
      </p:sp>
      <p:sp>
        <p:nvSpPr>
          <p:cNvPr id="15428" name="Rounded Rectangle 15427"/>
          <p:cNvSpPr/>
          <p:nvPr/>
        </p:nvSpPr>
        <p:spPr>
          <a:xfrm>
            <a:off x="1117600" y="6083300"/>
            <a:ext cx="448259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9" name="TextBox 15428"/>
          <p:cNvSpPr txBox="1"/>
          <p:nvPr/>
        </p:nvSpPr>
        <p:spPr>
          <a:xfrm>
            <a:off x="1117600" y="6083300"/>
            <a:ext cx="448259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Python</a:t>
            </a:r>
          </a:p>
        </p:txBody>
      </p:sp>
      <p:sp>
        <p:nvSpPr>
          <p:cNvPr id="15430" name="Rounded Rectangle 15429"/>
          <p:cNvSpPr/>
          <p:nvPr/>
        </p:nvSpPr>
        <p:spPr>
          <a:xfrm>
            <a:off x="1616659" y="6083300"/>
            <a:ext cx="501802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1" name="TextBox 15430"/>
          <p:cNvSpPr txBox="1"/>
          <p:nvPr/>
        </p:nvSpPr>
        <p:spPr>
          <a:xfrm>
            <a:off x="1616659" y="6083300"/>
            <a:ext cx="501802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PyTorch</a:t>
            </a:r>
          </a:p>
        </p:txBody>
      </p:sp>
      <p:sp>
        <p:nvSpPr>
          <p:cNvPr id="15432" name="Rounded Rectangle 15431"/>
          <p:cNvSpPr/>
          <p:nvPr/>
        </p:nvSpPr>
        <p:spPr>
          <a:xfrm>
            <a:off x="2169261" y="6083300"/>
            <a:ext cx="983691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3" name="TextBox 15432"/>
          <p:cNvSpPr txBox="1"/>
          <p:nvPr/>
        </p:nvSpPr>
        <p:spPr>
          <a:xfrm>
            <a:off x="2169261" y="6083300"/>
            <a:ext cx="983691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ONNX Runtime Web</a:t>
            </a:r>
          </a:p>
        </p:txBody>
      </p:sp>
      <p:sp>
        <p:nvSpPr>
          <p:cNvPr id="15434" name="Rounded Rectangle 15433"/>
          <p:cNvSpPr/>
          <p:nvPr/>
        </p:nvSpPr>
        <p:spPr>
          <a:xfrm>
            <a:off x="3203752" y="6083300"/>
            <a:ext cx="823061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5" name="TextBox 15434"/>
          <p:cNvSpPr txBox="1"/>
          <p:nvPr/>
        </p:nvSpPr>
        <p:spPr>
          <a:xfrm>
            <a:off x="3203752" y="6083300"/>
            <a:ext cx="823061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WASM / WebGPU</a:t>
            </a:r>
          </a:p>
        </p:txBody>
      </p:sp>
      <p:sp>
        <p:nvSpPr>
          <p:cNvPr id="15436" name="Rounded Rectangle 15435"/>
          <p:cNvSpPr/>
          <p:nvPr/>
        </p:nvSpPr>
        <p:spPr>
          <a:xfrm>
            <a:off x="4077614" y="6083300"/>
            <a:ext cx="930148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7" name="TextBox 15436"/>
          <p:cNvSpPr txBox="1"/>
          <p:nvPr/>
        </p:nvSpPr>
        <p:spPr>
          <a:xfrm>
            <a:off x="4077614" y="6083300"/>
            <a:ext cx="930148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Rasterio · GDAL</a:t>
            </a:r>
          </a:p>
        </p:txBody>
      </p:sp>
      <p:sp>
        <p:nvSpPr>
          <p:cNvPr id="15438" name="Rounded Rectangle 15437"/>
          <p:cNvSpPr/>
          <p:nvPr/>
        </p:nvSpPr>
        <p:spPr>
          <a:xfrm>
            <a:off x="5058562" y="6083300"/>
            <a:ext cx="662432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9" name="TextBox 15438"/>
          <p:cNvSpPr txBox="1"/>
          <p:nvPr/>
        </p:nvSpPr>
        <p:spPr>
          <a:xfrm>
            <a:off x="5058562" y="6083300"/>
            <a:ext cx="662432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STAC · COG</a:t>
            </a:r>
          </a:p>
        </p:txBody>
      </p:sp>
      <p:sp>
        <p:nvSpPr>
          <p:cNvPr id="15440" name="Rounded Rectangle 15439"/>
          <p:cNvSpPr/>
          <p:nvPr/>
        </p:nvSpPr>
        <p:spPr>
          <a:xfrm>
            <a:off x="5771794" y="6083300"/>
            <a:ext cx="555345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1" name="TextBox 15440"/>
          <p:cNvSpPr txBox="1"/>
          <p:nvPr/>
        </p:nvSpPr>
        <p:spPr>
          <a:xfrm>
            <a:off x="5771794" y="6083300"/>
            <a:ext cx="555345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Three.js</a:t>
            </a:r>
          </a:p>
        </p:txBody>
      </p:sp>
      <p:sp>
        <p:nvSpPr>
          <p:cNvPr id="15442" name="Rounded Rectangle 15441"/>
          <p:cNvSpPr/>
          <p:nvPr/>
        </p:nvSpPr>
        <p:spPr>
          <a:xfrm>
            <a:off x="6377940" y="6083300"/>
            <a:ext cx="501802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3" name="TextBox 15442"/>
          <p:cNvSpPr txBox="1"/>
          <p:nvPr/>
        </p:nvSpPr>
        <p:spPr>
          <a:xfrm>
            <a:off x="6377940" y="6083300"/>
            <a:ext cx="501802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Leaflet</a:t>
            </a:r>
          </a:p>
        </p:txBody>
      </p:sp>
      <p:sp>
        <p:nvSpPr>
          <p:cNvPr id="15444" name="Rounded Rectangle 15443"/>
          <p:cNvSpPr/>
          <p:nvPr/>
        </p:nvSpPr>
        <p:spPr>
          <a:xfrm>
            <a:off x="6930542" y="6083300"/>
            <a:ext cx="983691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5" name="TextBox 15444"/>
          <p:cNvSpPr txBox="1"/>
          <p:nvPr/>
        </p:nvSpPr>
        <p:spPr>
          <a:xfrm>
            <a:off x="6930542" y="6083300"/>
            <a:ext cx="983691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FastAPI · Docker</a:t>
            </a:r>
          </a:p>
        </p:txBody>
      </p:sp>
      <p:sp>
        <p:nvSpPr>
          <p:cNvPr id="15446" name="Rounded Rectangle 15445"/>
          <p:cNvSpPr/>
          <p:nvPr/>
        </p:nvSpPr>
        <p:spPr>
          <a:xfrm>
            <a:off x="7965033" y="6083300"/>
            <a:ext cx="769518" cy="1524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7" name="TextBox 15446"/>
          <p:cNvSpPr txBox="1"/>
          <p:nvPr/>
        </p:nvSpPr>
        <p:spPr>
          <a:xfrm>
            <a:off x="7965033" y="6083300"/>
            <a:ext cx="769518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GitHub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5400" rIns="25400"/>
          <a:lstStyle/>
          <a:p>
            <a:pPr algn="ctr"/>
            <a:r>
              <a:rPr lang="en-US" dirty="0" sz="1100" b="1">
                <a:solidFill>
                  <a:srgbClr val="1F3864"/>
                </a:solidFill>
              </a:rPr>
              <a:t>Sentinels_W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1000" y="1092200"/>
            <a:ext cx="11430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1050" b="1" i="0" u="sng">
                <a:solidFill>
                  <a:srgbClr val="1F3864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81000" y="1346200"/>
            <a:ext cx="6705600" cy="2006600"/>
          </a:xfrm>
          <a:prstGeom prst="roundRect">
            <a:avLst>
              <a:gd name="adj" fmla="val 3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482600" y="1422400"/>
            <a:ext cx="203200" cy="203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68" y="1471168"/>
            <a:ext cx="105664" cy="10566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749300" y="1409700"/>
            <a:ext cx="35433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End-to-end flowchart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8000" y="17272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546100" y="17399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① Input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point + dates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or GeoTIFF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1701800" y="19812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1828800" y="17272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1866900" y="17399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② STAC search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Earth Search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L2A, &lt;20% cloud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3022600" y="19812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3149600" y="17272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3187700" y="17399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③ Cloud scoring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SCL mask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clear ≥ 97%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343400" y="19812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4470400" y="17272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4508500" y="17399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④ COG read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window only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10 bands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5664200" y="19812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5791200" y="17272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5829300" y="17399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⑤ Harmonise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baseline-04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÷10 000, stack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08000" y="26670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546100" y="26797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⑩ Deliver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GeoTIFF · σ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viewer</a:t>
            </a:r>
          </a:p>
        </p:txBody>
      </p:sp>
      <p:cxnSp>
        <p:nvCxnSpPr>
          <p:cNvPr id="17431" name="Connector 17430"/>
          <p:cNvCxnSpPr/>
          <p:nvPr/>
        </p:nvCxnSpPr>
        <p:spPr>
          <a:xfrm flipH="1">
            <a:off x="1701800" y="29210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1828800" y="26670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1866900" y="26797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⑨ Validate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PSNR · SAM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ΔNDVI</a:t>
            </a:r>
          </a:p>
        </p:txBody>
      </p:sp>
      <p:cxnSp>
        <p:nvCxnSpPr>
          <p:cNvPr id="17434" name="Connector 17433"/>
          <p:cNvCxnSpPr/>
          <p:nvPr/>
        </p:nvCxnSpPr>
        <p:spPr>
          <a:xfrm flipH="1">
            <a:off x="3022600" y="29210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3149600" y="26670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3187700" y="26797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⑧ 8× TTA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mean + σ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per pixel</a:t>
            </a:r>
          </a:p>
        </p:txBody>
      </p:sp>
      <p:cxnSp>
        <p:nvCxnSpPr>
          <p:cNvPr id="17437" name="Connector 17436"/>
          <p:cNvCxnSpPr/>
          <p:nvPr/>
        </p:nvCxnSpPr>
        <p:spPr>
          <a:xfrm flipH="1">
            <a:off x="4343400" y="29210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4470400" y="26670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4508500" y="26797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⑦ SR ×4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ONNX + FFT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constraint</a:t>
            </a:r>
          </a:p>
        </p:txBody>
      </p:sp>
      <p:cxnSp>
        <p:nvCxnSpPr>
          <p:cNvPr id="17440" name="Connector 17439"/>
          <p:cNvCxnSpPr/>
          <p:nvPr/>
        </p:nvCxnSpPr>
        <p:spPr>
          <a:xfrm flipH="1">
            <a:off x="5664200" y="2921000"/>
            <a:ext cx="127000" cy="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5791200" y="2667000"/>
            <a:ext cx="11938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5829300" y="2679700"/>
            <a:ext cx="111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⑥ Tile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128 px, 32 px</a:t>
            </a:r>
          </a:p>
          <a:p>
            <a:pPr algn="ctr">
              <a:spcAft>
                <a:spcPts val="0"/>
              </a:spcAft>
            </a:pPr>
            <a:r>
              <a:rPr sz="680" b="0" i="0" u="none">
                <a:solidFill>
                  <a:srgbClr val="556070"/>
                </a:solidFill>
                <a:latin typeface="Arial"/>
              </a:rPr>
              <a:t>feathered overlap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6388100" y="2235200"/>
            <a:ext cx="0" cy="431800"/>
          </a:xfrm>
          <a:prstGeom prst="line">
            <a:avLst/>
          </a:prstGeom>
          <a:ln w="1524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TextBox 17443"/>
          <p:cNvSpPr txBox="1"/>
          <p:nvPr/>
        </p:nvSpPr>
        <p:spPr>
          <a:xfrm>
            <a:off x="3073400" y="2286000"/>
            <a:ext cx="13462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650" b="0" i="1" u="none">
                <a:solidFill>
                  <a:srgbClr val="E97A1F"/>
                </a:solidFill>
                <a:latin typeface="Arial"/>
              </a:rPr>
              <a:t>retry next scene if cloudy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188200" y="1346200"/>
            <a:ext cx="4622800" cy="2006600"/>
          </a:xfrm>
          <a:prstGeom prst="roundRect">
            <a:avLst>
              <a:gd name="adj" fmla="val 3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7289800" y="1422400"/>
            <a:ext cx="203200" cy="203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7" name="Picture 17446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568" y="1471168"/>
            <a:ext cx="105664" cy="105664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7556500" y="1409700"/>
            <a:ext cx="35433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System architecture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7289800" y="1701800"/>
            <a:ext cx="2794000" cy="157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7366000" y="1727200"/>
            <a:ext cx="26416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BROWSER · client-side engine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366000" y="1905000"/>
            <a:ext cx="2641600" cy="29210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7442200" y="1917700"/>
            <a:ext cx="2489200" cy="266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20" b="1" i="0" u="none">
                <a:solidFill>
                  <a:srgbClr val="1F3864"/>
                </a:solidFill>
                <a:latin typeface="Arial"/>
              </a:rPr>
              <a:t>Presentation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Three.js globe · Leaflet map · swipe viewer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7366000" y="2241550"/>
            <a:ext cx="2641600" cy="2921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7442200" y="2254250"/>
            <a:ext cx="2489200" cy="266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20" b="1" i="0" u="none">
                <a:solidFill>
                  <a:srgbClr val="1F3864"/>
                </a:solidFill>
                <a:latin typeface="Arial"/>
              </a:rPr>
              <a:t>Data engine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STAC client · SCL scoring · COG reader · proj4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7366000" y="2578100"/>
            <a:ext cx="2641600" cy="292100"/>
          </a:xfrm>
          <a:prstGeom prst="roundRect">
            <a:avLst>
              <a:gd name="adj" fmla="val 12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7442200" y="2590800"/>
            <a:ext cx="2489200" cy="266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20" b="1" i="0" u="none">
                <a:solidFill>
                  <a:srgbClr val="1F3864"/>
                </a:solidFill>
                <a:latin typeface="Arial"/>
              </a:rPr>
              <a:t>Inference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ONNX Runtime Web · WASM / WebGPU · 19 MB model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366000" y="2914650"/>
            <a:ext cx="2641600" cy="2921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7442200" y="2927350"/>
            <a:ext cx="2489200" cy="266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20" b="1" i="0" u="none">
                <a:solidFill>
                  <a:srgbClr val="1F3864"/>
                </a:solidFill>
                <a:latin typeface="Arial"/>
              </a:rPr>
              <a:t>Products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TTA σ · metrics · GeoTIFF writer · renderer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10261600" y="1727200"/>
            <a:ext cx="1447800" cy="24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10299700" y="1739900"/>
            <a:ext cx="1371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Earth Search STAC</a:t>
            </a:r>
          </a:p>
        </p:txBody>
      </p:sp>
      <p:cxnSp>
        <p:nvCxnSpPr>
          <p:cNvPr id="17461" name="Connector 17460"/>
          <p:cNvCxnSpPr/>
          <p:nvPr/>
        </p:nvCxnSpPr>
        <p:spPr>
          <a:xfrm flipH="1">
            <a:off x="10096500" y="1847850"/>
            <a:ext cx="152400" cy="0"/>
          </a:xfrm>
          <a:prstGeom prst="line">
            <a:avLst/>
          </a:prstGeom>
          <a:ln w="1143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10261600" y="2038350"/>
            <a:ext cx="1447800" cy="24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10299700" y="2051050"/>
            <a:ext cx="1371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AWS S3 · S2 COGs</a:t>
            </a:r>
          </a:p>
        </p:txBody>
      </p:sp>
      <p:cxnSp>
        <p:nvCxnSpPr>
          <p:cNvPr id="17464" name="Connector 17463"/>
          <p:cNvCxnSpPr/>
          <p:nvPr/>
        </p:nvCxnSpPr>
        <p:spPr>
          <a:xfrm flipH="1">
            <a:off x="10096500" y="2159000"/>
            <a:ext cx="152400" cy="0"/>
          </a:xfrm>
          <a:prstGeom prst="line">
            <a:avLst/>
          </a:prstGeom>
          <a:ln w="1143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Rounded Rectangle 17464"/>
          <p:cNvSpPr/>
          <p:nvPr/>
        </p:nvSpPr>
        <p:spPr>
          <a:xfrm>
            <a:off x="10261600" y="2349500"/>
            <a:ext cx="1447800" cy="24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10299700" y="2362200"/>
            <a:ext cx="1371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Photon / OSM search</a:t>
            </a:r>
          </a:p>
        </p:txBody>
      </p:sp>
      <p:cxnSp>
        <p:nvCxnSpPr>
          <p:cNvPr id="17467" name="Connector 17466"/>
          <p:cNvCxnSpPr/>
          <p:nvPr/>
        </p:nvCxnSpPr>
        <p:spPr>
          <a:xfrm flipH="1">
            <a:off x="10096500" y="2470150"/>
            <a:ext cx="152400" cy="0"/>
          </a:xfrm>
          <a:prstGeom prst="line">
            <a:avLst/>
          </a:prstGeom>
          <a:ln w="1143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Rounded Rectangle 17467"/>
          <p:cNvSpPr/>
          <p:nvPr/>
        </p:nvSpPr>
        <p:spPr>
          <a:xfrm>
            <a:off x="10261600" y="2660650"/>
            <a:ext cx="1447800" cy="24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10299700" y="2673350"/>
            <a:ext cx="1371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GitHub Pages (static)</a:t>
            </a:r>
          </a:p>
        </p:txBody>
      </p:sp>
      <p:cxnSp>
        <p:nvCxnSpPr>
          <p:cNvPr id="17470" name="Connector 17469"/>
          <p:cNvCxnSpPr/>
          <p:nvPr/>
        </p:nvCxnSpPr>
        <p:spPr>
          <a:xfrm flipH="1">
            <a:off x="10096500" y="2781300"/>
            <a:ext cx="152400" cy="0"/>
          </a:xfrm>
          <a:prstGeom prst="line">
            <a:avLst/>
          </a:prstGeom>
          <a:ln w="1143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Rounded Rectangle 17470"/>
          <p:cNvSpPr/>
          <p:nvPr/>
        </p:nvSpPr>
        <p:spPr>
          <a:xfrm>
            <a:off x="10261600" y="2971800"/>
            <a:ext cx="1447800" cy="24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2" name="TextBox 17471"/>
          <p:cNvSpPr txBox="1"/>
          <p:nvPr/>
        </p:nvSpPr>
        <p:spPr>
          <a:xfrm>
            <a:off x="10299700" y="2984500"/>
            <a:ext cx="1371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Python batch → ONNX</a:t>
            </a:r>
          </a:p>
        </p:txBody>
      </p:sp>
      <p:cxnSp>
        <p:nvCxnSpPr>
          <p:cNvPr id="17473" name="Connector 17472"/>
          <p:cNvCxnSpPr/>
          <p:nvPr/>
        </p:nvCxnSpPr>
        <p:spPr>
          <a:xfrm flipH="1">
            <a:off x="10096500" y="3092450"/>
            <a:ext cx="152400" cy="0"/>
          </a:xfrm>
          <a:prstGeom prst="line">
            <a:avLst/>
          </a:prstGeom>
          <a:ln w="1143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4" name="TextBox 17473"/>
          <p:cNvSpPr txBox="1"/>
          <p:nvPr/>
        </p:nvSpPr>
        <p:spPr>
          <a:xfrm>
            <a:off x="381000" y="3454400"/>
            <a:ext cx="11430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1050" b="1" i="0" u="sng">
                <a:solidFill>
                  <a:srgbClr val="1F3864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381000" y="3683000"/>
            <a:ext cx="2214880" cy="25654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6" name="Rounded Rectangle 17475"/>
          <p:cNvSpPr/>
          <p:nvPr/>
        </p:nvSpPr>
        <p:spPr>
          <a:xfrm>
            <a:off x="2684780" y="3683000"/>
            <a:ext cx="2214880" cy="25654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Rounded Rectangle 17476"/>
          <p:cNvSpPr/>
          <p:nvPr/>
        </p:nvSpPr>
        <p:spPr>
          <a:xfrm>
            <a:off x="4988560" y="3683000"/>
            <a:ext cx="2214880" cy="25654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Rounded Rectangle 17477"/>
          <p:cNvSpPr/>
          <p:nvPr/>
        </p:nvSpPr>
        <p:spPr>
          <a:xfrm>
            <a:off x="7292340" y="3683000"/>
            <a:ext cx="2214880" cy="25654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Rounded Rectangle 17478"/>
          <p:cNvSpPr/>
          <p:nvPr/>
        </p:nvSpPr>
        <p:spPr>
          <a:xfrm>
            <a:off x="9596120" y="3683000"/>
            <a:ext cx="2214880" cy="25654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0" name="Oval 17479"/>
          <p:cNvSpPr/>
          <p:nvPr/>
        </p:nvSpPr>
        <p:spPr>
          <a:xfrm>
            <a:off x="457200" y="3759200"/>
            <a:ext cx="203200" cy="203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1" name="Picture 17480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68" y="3807967"/>
            <a:ext cx="105664" cy="105664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723900" y="3746500"/>
            <a:ext cx="19481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Tech stack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457200" y="4013200"/>
            <a:ext cx="2062480" cy="218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AI  </a:t>
            </a:r>
            <a:r>
              <a:rPr sz="700" b="0" i="0" u="none">
                <a:solidFill>
                  <a:srgbClr val="1A1F2B"/>
                </a:solidFill>
                <a:latin typeface="Arial"/>
              </a:rPr>
              <a:t>Python · PyTorch · SEN2SR-Lite · ONNX</a:t>
            </a:r>
          </a:p>
          <a:p>
            <a:pPr algn="l">
              <a:spcAft>
                <a:spcPts val="30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Geo  </a:t>
            </a:r>
            <a:r>
              <a:rPr sz="700" b="0" i="0" u="none">
                <a:solidFill>
                  <a:srgbClr val="1A1F2B"/>
                </a:solidFill>
                <a:latin typeface="Arial"/>
              </a:rPr>
              <a:t>Rasterio · GDAL · STAC · COG · proj4</a:t>
            </a:r>
          </a:p>
          <a:p>
            <a:pPr algn="l">
              <a:spcAft>
                <a:spcPts val="30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Web  </a:t>
            </a:r>
            <a:r>
              <a:rPr sz="700" b="0" i="0" u="none">
                <a:solidFill>
                  <a:srgbClr val="1A1F2B"/>
                </a:solidFill>
                <a:latin typeface="Arial"/>
              </a:rPr>
              <a:t>JavaScript · ONNX Runtime Web · Three.js · Leaflet · geotiff.js</a:t>
            </a:r>
          </a:p>
          <a:p>
            <a:pPr algn="l">
              <a:spcAft>
                <a:spcPts val="30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Ops  </a:t>
            </a:r>
            <a:r>
              <a:rPr sz="700" b="0" i="0" u="none">
                <a:solidFill>
                  <a:srgbClr val="1A1F2B"/>
                </a:solidFill>
                <a:latin typeface="Arial"/>
              </a:rPr>
              <a:t>GitHub Pages · FastAPI · Docker</a:t>
            </a:r>
          </a:p>
          <a:p>
            <a:pPr algn="l">
              <a:spcAft>
                <a:spcPts val="30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HW  </a:t>
            </a:r>
            <a:r>
              <a:rPr sz="700" b="0" i="0" u="none">
                <a:solidFill>
                  <a:srgbClr val="1A1F2B"/>
                </a:solidFill>
                <a:latin typeface="Arial"/>
              </a:rPr>
              <a:t>Any laptop CPU; GPU optional (training / batch)</a:t>
            </a:r>
          </a:p>
        </p:txBody>
      </p:sp>
      <p:sp>
        <p:nvSpPr>
          <p:cNvPr id="17484" name="Oval 17483"/>
          <p:cNvSpPr/>
          <p:nvPr/>
        </p:nvSpPr>
        <p:spPr>
          <a:xfrm>
            <a:off x="2760980" y="3759200"/>
            <a:ext cx="203200" cy="203200"/>
          </a:xfrm>
          <a:prstGeom prst="ellipse">
            <a:avLst/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5" name="Picture 17484" descr="up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9748" y="3807967"/>
            <a:ext cx="105664" cy="105664"/>
          </a:xfrm>
          <a:prstGeom prst="rect">
            <a:avLst/>
          </a:prstGeom>
        </p:spPr>
      </p:pic>
      <p:sp>
        <p:nvSpPr>
          <p:cNvPr id="17486" name="TextBox 17485"/>
          <p:cNvSpPr txBox="1"/>
          <p:nvPr/>
        </p:nvSpPr>
        <p:spPr>
          <a:xfrm>
            <a:off x="3027680" y="3746500"/>
            <a:ext cx="19481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Input / Output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2760980" y="4013200"/>
            <a:ext cx="206248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TextBox 17487"/>
          <p:cNvSpPr txBox="1"/>
          <p:nvPr/>
        </p:nvSpPr>
        <p:spPr>
          <a:xfrm>
            <a:off x="2799080" y="4025900"/>
            <a:ext cx="1986280" cy="787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INPUT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S2 L2A · 10 bands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4 × 10 m + 6 × 20 m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AOI point + dates, or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GeoTIFF (10/12/13 bands)</a:t>
            </a:r>
          </a:p>
        </p:txBody>
      </p:sp>
      <p:cxnSp>
        <p:nvCxnSpPr>
          <p:cNvPr id="17489" name="Connector 17488"/>
          <p:cNvCxnSpPr/>
          <p:nvPr/>
        </p:nvCxnSpPr>
        <p:spPr>
          <a:xfrm>
            <a:off x="3792220" y="4838700"/>
            <a:ext cx="0" cy="101600"/>
          </a:xfrm>
          <a:prstGeom prst="line">
            <a:avLst/>
          </a:prstGeom>
          <a:ln w="1905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0" name="Rounded Rectangle 17489"/>
          <p:cNvSpPr/>
          <p:nvPr/>
        </p:nvSpPr>
        <p:spPr>
          <a:xfrm>
            <a:off x="2760980" y="4953000"/>
            <a:ext cx="206248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2799080" y="4965700"/>
            <a:ext cx="1986280" cy="787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2E9E48"/>
                </a:solidFill>
                <a:latin typeface="Arial"/>
              </a:rPr>
              <a:t>OUTPUT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2.5 m GeoTIFF · 10 bands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σ-uncertainty GeoTIFF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metrics JSON · viewer</a:t>
            </a:r>
          </a:p>
          <a:p>
            <a:pPr algn="ctr">
              <a:spcAft>
                <a:spcPts val="0"/>
              </a:spcAft>
            </a:pPr>
            <a:r>
              <a:rPr sz="660" b="0" i="0" u="none">
                <a:solidFill>
                  <a:srgbClr val="556070"/>
                </a:solidFill>
                <a:latin typeface="Arial"/>
              </a:rPr>
              <a:t>source UTM, reflectance ×10⁴</a:t>
            </a:r>
          </a:p>
        </p:txBody>
      </p:sp>
      <p:sp>
        <p:nvSpPr>
          <p:cNvPr id="17492" name="Oval 17491"/>
          <p:cNvSpPr/>
          <p:nvPr/>
        </p:nvSpPr>
        <p:spPr>
          <a:xfrm>
            <a:off x="5064760" y="3759200"/>
            <a:ext cx="203200" cy="203200"/>
          </a:xfrm>
          <a:prstGeom prst="ellipse">
            <a:avLst/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3" name="Picture 17492" descr="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3528" y="3807967"/>
            <a:ext cx="105664" cy="105664"/>
          </a:xfrm>
          <a:prstGeom prst="rect">
            <a:avLst/>
          </a:prstGeom>
        </p:spPr>
      </p:pic>
      <p:sp>
        <p:nvSpPr>
          <p:cNvPr id="17494" name="TextBox 17493"/>
          <p:cNvSpPr txBox="1"/>
          <p:nvPr/>
        </p:nvSpPr>
        <p:spPr>
          <a:xfrm>
            <a:off x="5331460" y="3746500"/>
            <a:ext cx="19481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Deployment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5064760" y="4013200"/>
            <a:ext cx="163068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Web app (client-side)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GitHub Pages; nothing uploaded</a:t>
            </a:r>
          </a:p>
        </p:txBody>
      </p:sp>
      <p:sp>
        <p:nvSpPr>
          <p:cNvPr id="17496" name="Rounded Rectangle 17495"/>
          <p:cNvSpPr/>
          <p:nvPr/>
        </p:nvSpPr>
        <p:spPr>
          <a:xfrm>
            <a:off x="6757035" y="40386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7" name="TextBox 17496"/>
          <p:cNvSpPr txBox="1"/>
          <p:nvPr/>
        </p:nvSpPr>
        <p:spPr>
          <a:xfrm>
            <a:off x="6757035" y="40386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5064760" y="4356100"/>
            <a:ext cx="163068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Offline / air-gapped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serve docs/ + internal COG mirror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6757035" y="43815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0" name="TextBox 17499"/>
          <p:cNvSpPr txBox="1"/>
          <p:nvPr/>
        </p:nvSpPr>
        <p:spPr>
          <a:xfrm>
            <a:off x="6757035" y="43815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5064760" y="4699000"/>
            <a:ext cx="163068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On-prem API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FastAPI + Docker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6757035" y="47244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TextBox 17502"/>
          <p:cNvSpPr txBox="1"/>
          <p:nvPr/>
        </p:nvSpPr>
        <p:spPr>
          <a:xfrm>
            <a:off x="6757035" y="47244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5064760" y="5041900"/>
            <a:ext cx="163068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Batch production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Python tiler, GPU optional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6757035" y="50673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6" name="TextBox 17505"/>
          <p:cNvSpPr txBox="1"/>
          <p:nvPr/>
        </p:nvSpPr>
        <p:spPr>
          <a:xfrm>
            <a:off x="6757035" y="50673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5064760" y="5384800"/>
            <a:ext cx="163068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NTRO integration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STAC mirror, QGIS plug-in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6910578" y="541020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TextBox 17508"/>
          <p:cNvSpPr txBox="1"/>
          <p:nvPr/>
        </p:nvSpPr>
        <p:spPr>
          <a:xfrm>
            <a:off x="6910578" y="541020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sp>
        <p:nvSpPr>
          <p:cNvPr id="17510" name="Oval 17509"/>
          <p:cNvSpPr/>
          <p:nvPr/>
        </p:nvSpPr>
        <p:spPr>
          <a:xfrm>
            <a:off x="7368540" y="3759200"/>
            <a:ext cx="203200" cy="203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1" name="Picture 17510" descr="slid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7308" y="3807967"/>
            <a:ext cx="105664" cy="105664"/>
          </a:xfrm>
          <a:prstGeom prst="rect">
            <a:avLst/>
          </a:prstGeom>
        </p:spPr>
      </p:pic>
      <p:sp>
        <p:nvSpPr>
          <p:cNvPr id="17512" name="TextBox 17511"/>
          <p:cNvSpPr txBox="1"/>
          <p:nvPr/>
        </p:nvSpPr>
        <p:spPr>
          <a:xfrm>
            <a:off x="7635240" y="3746500"/>
            <a:ext cx="19481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Features</a:t>
            </a:r>
          </a:p>
        </p:txBody>
      </p:sp>
      <p:sp>
        <p:nvSpPr>
          <p:cNvPr id="17513" name="TextBox 17512"/>
          <p:cNvSpPr txBox="1"/>
          <p:nvPr/>
        </p:nvSpPr>
        <p:spPr>
          <a:xfrm>
            <a:off x="7368540" y="4013200"/>
            <a:ext cx="2087880" cy="218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Search any place · use my location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Cloud-aware scene selection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Swipe viewer · zoom · full screen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NDVI 10 m vs 2.5 m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Uncertainty overlay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Auto validation metrics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GeoTIFF export (3 layers)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Upload own GeoTIFF</a:t>
            </a:r>
          </a:p>
          <a:p>
            <a:pPr algn="l" marL="114300" indent="-114300">
              <a:spcAft>
                <a:spcPts val="160"/>
              </a:spcAft>
              <a:buClr>
                <a:srgbClr val="2E9E48"/>
              </a:buClr>
              <a:buFont typeface="Arial"/>
              <a:buChar char="✓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3-D globe · 5 study areas</a:t>
            </a:r>
          </a:p>
        </p:txBody>
      </p:sp>
      <p:sp>
        <p:nvSpPr>
          <p:cNvPr id="17514" name="Oval 17513"/>
          <p:cNvSpPr/>
          <p:nvPr/>
        </p:nvSpPr>
        <p:spPr>
          <a:xfrm>
            <a:off x="9672320" y="3759200"/>
            <a:ext cx="203200" cy="203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5" name="Picture 17514" descr="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1088" y="3807967"/>
            <a:ext cx="105664" cy="105664"/>
          </a:xfrm>
          <a:prstGeom prst="rect">
            <a:avLst/>
          </a:prstGeom>
        </p:spPr>
      </p:pic>
      <p:sp>
        <p:nvSpPr>
          <p:cNvPr id="17516" name="TextBox 17515"/>
          <p:cNvSpPr txBox="1"/>
          <p:nvPr/>
        </p:nvSpPr>
        <p:spPr>
          <a:xfrm>
            <a:off x="9939020" y="3746500"/>
            <a:ext cx="19481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Links</a:t>
            </a:r>
          </a:p>
        </p:txBody>
      </p:sp>
      <p:pic>
        <p:nvPicPr>
          <p:cNvPr id="17517" name="Picture 17516" descr="qr_dem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7720" y="4025900"/>
            <a:ext cx="660400" cy="660400"/>
          </a:xfrm>
          <a:prstGeom prst="rect">
            <a:avLst/>
          </a:prstGeom>
        </p:spPr>
      </p:pic>
      <p:sp>
        <p:nvSpPr>
          <p:cNvPr id="17518" name="TextBox 17517"/>
          <p:cNvSpPr txBox="1"/>
          <p:nvPr/>
        </p:nvSpPr>
        <p:spPr>
          <a:xfrm>
            <a:off x="10408920" y="4064000"/>
            <a:ext cx="135128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50" b="1" i="0" u="none">
                <a:solidFill>
                  <a:srgbClr val="1F3864"/>
                </a:solidFill>
                <a:latin typeface="Arial"/>
              </a:rPr>
              <a:t>Web app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scan or open the link below</a:t>
            </a:r>
          </a:p>
        </p:txBody>
      </p:sp>
      <p:sp>
        <p:nvSpPr>
          <p:cNvPr id="17519" name="Oval 17518"/>
          <p:cNvSpPr/>
          <p:nvPr/>
        </p:nvSpPr>
        <p:spPr>
          <a:xfrm>
            <a:off x="9672320" y="4762500"/>
            <a:ext cx="177800" cy="177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20" name="Picture 17519" descr="glob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4992" y="4805172"/>
            <a:ext cx="92456" cy="92456"/>
          </a:xfrm>
          <a:prstGeom prst="rect">
            <a:avLst/>
          </a:prstGeom>
        </p:spPr>
      </p:pic>
      <p:sp>
        <p:nvSpPr>
          <p:cNvPr id="17521" name="TextBox 17520"/>
          <p:cNvSpPr txBox="1"/>
          <p:nvPr/>
        </p:nvSpPr>
        <p:spPr>
          <a:xfrm>
            <a:off x="9900920" y="4749800"/>
            <a:ext cx="185928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Web app</a:t>
            </a:r>
          </a:p>
          <a:p>
            <a:pPr algn="l">
              <a:spcAft>
                <a:spcPts val="0"/>
              </a:spcAft>
            </a:pPr>
            <a:r>
              <a:rPr sz="560" b="0" i="0" u="none">
                <a:solidFill>
                  <a:srgbClr val="0070C0"/>
                </a:solidFill>
                <a:latin typeface="Arial"/>
              </a:rPr>
              <a:t>uchihadzoro.github.io/Deep-Learning-Super-Resolution-Mapping</a:t>
            </a:r>
          </a:p>
        </p:txBody>
      </p:sp>
      <p:sp>
        <p:nvSpPr>
          <p:cNvPr id="17522" name="Oval 17521"/>
          <p:cNvSpPr/>
          <p:nvPr/>
        </p:nvSpPr>
        <p:spPr>
          <a:xfrm>
            <a:off x="9672320" y="5029200"/>
            <a:ext cx="177800" cy="177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23" name="Picture 17522" descr="githu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4992" y="5071872"/>
            <a:ext cx="92456" cy="92456"/>
          </a:xfrm>
          <a:prstGeom prst="rect">
            <a:avLst/>
          </a:prstGeom>
        </p:spPr>
      </p:pic>
      <p:sp>
        <p:nvSpPr>
          <p:cNvPr id="17524" name="TextBox 17523"/>
          <p:cNvSpPr txBox="1"/>
          <p:nvPr/>
        </p:nvSpPr>
        <p:spPr>
          <a:xfrm>
            <a:off x="9900920" y="5016500"/>
            <a:ext cx="185928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GitHub</a:t>
            </a:r>
          </a:p>
          <a:p>
            <a:pPr algn="l">
              <a:spcAft>
                <a:spcPts val="0"/>
              </a:spcAft>
            </a:pPr>
            <a:r>
              <a:rPr sz="560" b="0" i="0" u="none">
                <a:solidFill>
                  <a:srgbClr val="0070C0"/>
                </a:solidFill>
                <a:latin typeface="Arial"/>
              </a:rPr>
              <a:t>github.com/UchihaDZoro/Deep-Learning-Super-Resolution-Mapping</a:t>
            </a:r>
          </a:p>
        </p:txBody>
      </p:sp>
      <p:sp>
        <p:nvSpPr>
          <p:cNvPr id="17525" name="Oval 17524"/>
          <p:cNvSpPr/>
          <p:nvPr/>
        </p:nvSpPr>
        <p:spPr>
          <a:xfrm>
            <a:off x="9672320" y="5295900"/>
            <a:ext cx="177800" cy="177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26" name="Picture 17525" descr="boo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14992" y="5338572"/>
            <a:ext cx="92456" cy="92456"/>
          </a:xfrm>
          <a:prstGeom prst="rect">
            <a:avLst/>
          </a:prstGeom>
        </p:spPr>
      </p:pic>
      <p:sp>
        <p:nvSpPr>
          <p:cNvPr id="17527" name="TextBox 17526"/>
          <p:cNvSpPr txBox="1"/>
          <p:nvPr/>
        </p:nvSpPr>
        <p:spPr>
          <a:xfrm>
            <a:off x="9900920" y="5283200"/>
            <a:ext cx="185928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Technical design</a:t>
            </a:r>
          </a:p>
          <a:p>
            <a:pPr algn="l">
              <a:spcAft>
                <a:spcPts val="0"/>
              </a:spcAft>
            </a:pPr>
            <a:r>
              <a:rPr sz="560" b="0" i="0" u="none">
                <a:solidFill>
                  <a:srgbClr val="0070C0"/>
                </a:solidFill>
                <a:latin typeface="Arial"/>
              </a:rPr>
              <a:t>TECHNICAL_DESIGN.md</a:t>
            </a:r>
          </a:p>
        </p:txBody>
      </p:sp>
      <p:sp>
        <p:nvSpPr>
          <p:cNvPr id="17528" name="Oval 17527"/>
          <p:cNvSpPr/>
          <p:nvPr/>
        </p:nvSpPr>
        <p:spPr>
          <a:xfrm>
            <a:off x="9672320" y="5562600"/>
            <a:ext cx="177800" cy="177800"/>
          </a:xfrm>
          <a:prstGeom prst="ellipse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29" name="Picture 17528" descr="youtub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4992" y="5605272"/>
            <a:ext cx="92456" cy="92456"/>
          </a:xfrm>
          <a:prstGeom prst="rect">
            <a:avLst/>
          </a:prstGeom>
        </p:spPr>
      </p:pic>
      <p:sp>
        <p:nvSpPr>
          <p:cNvPr id="17530" name="TextBox 17529"/>
          <p:cNvSpPr txBox="1"/>
          <p:nvPr/>
        </p:nvSpPr>
        <p:spPr>
          <a:xfrm>
            <a:off x="9900920" y="5549900"/>
            <a:ext cx="185928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80" b="1" i="0" u="none">
                <a:solidFill>
                  <a:srgbClr val="1F3864"/>
                </a:solidFill>
                <a:latin typeface="Arial"/>
              </a:rPr>
              <a:t>Demo video</a:t>
            </a:r>
          </a:p>
          <a:p>
            <a:pPr algn="l">
              <a:spcAft>
                <a:spcPts val="0"/>
              </a:spcAft>
            </a:pPr>
            <a:r>
              <a:rPr sz="560" b="0" i="0" u="none">
                <a:solidFill>
                  <a:srgbClr val="E97A1F"/>
                </a:solidFill>
                <a:latin typeface="Arial"/>
              </a:rPr>
              <a:t>[add YouTube link]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14500" y="177800"/>
            <a:ext cx="8026400" cy="787400"/>
          </a:xfrm>
        </p:spPr>
        <p:txBody>
          <a:bodyPr wrap="square" anchor="ctr"/>
          <a:lstStyle/>
          <a:p>
            <a:pPr eaLnBrk="1" hangingPunct="1"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INNOVATION &amp;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5400" rIns="25400"/>
          <a:lstStyle/>
          <a:p>
            <a:pPr algn="ctr"/>
            <a:r>
              <a:rPr lang="en-US" dirty="0" sz="1100" b="1">
                <a:solidFill>
                  <a:srgbClr val="1F3864"/>
                </a:solidFill>
              </a:rPr>
              <a:t>Sentinels_W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1000" y="1143000"/>
            <a:ext cx="11430000" cy="1549400"/>
          </a:xfrm>
          <a:prstGeom prst="roundRect">
            <a:avLst>
              <a:gd name="adj" fmla="val 3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Oval 17410"/>
          <p:cNvSpPr/>
          <p:nvPr/>
        </p:nvSpPr>
        <p:spPr>
          <a:xfrm>
            <a:off x="482600" y="1206500"/>
            <a:ext cx="203200" cy="203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68" y="1255268"/>
            <a:ext cx="105664" cy="105664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749300" y="1193800"/>
            <a:ext cx="35433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Model architecture · TRINETRA-SR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620000" y="1257300"/>
            <a:ext cx="114300" cy="11430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7772400" y="1219200"/>
            <a:ext cx="7112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Fidelity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509000" y="1257300"/>
            <a:ext cx="114300" cy="114300"/>
          </a:xfrm>
          <a:prstGeom prst="roundRect">
            <a:avLst>
              <a:gd name="adj" fmla="val 3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8661400" y="1219200"/>
            <a:ext cx="7112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Detail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398000" y="1257300"/>
            <a:ext cx="114300" cy="114300"/>
          </a:xfrm>
          <a:prstGeom prst="roundRect">
            <a:avLst>
              <a:gd name="adj" fmla="val 3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9550400" y="1219200"/>
            <a:ext cx="7112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Trust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0312400" y="1257300"/>
            <a:ext cx="177800" cy="1143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560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10541000" y="1219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dashed = v2 (planned)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84200" y="1473200"/>
            <a:ext cx="1016000" cy="53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533400" y="1524000"/>
            <a:ext cx="1016000" cy="53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Rounded Rectangle 17423"/>
          <p:cNvSpPr/>
          <p:nvPr/>
        </p:nvSpPr>
        <p:spPr>
          <a:xfrm>
            <a:off x="482600" y="1574800"/>
            <a:ext cx="1016000" cy="53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482600" y="1600200"/>
            <a:ext cx="1016000" cy="50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50" b="1" i="0" u="none">
                <a:solidFill>
                  <a:srgbClr val="1F3864"/>
                </a:solidFill>
                <a:latin typeface="Arial"/>
              </a:rPr>
              <a:t>x : K×10×H×W</a:t>
            </a:r>
          </a:p>
          <a:p>
            <a:pPr algn="ctr">
              <a:spcAft>
                <a:spcPts val="0"/>
              </a:spcAft>
            </a:pPr>
            <a:r>
              <a:rPr sz="650" b="0" i="0" u="none">
                <a:solidFill>
                  <a:srgbClr val="556070"/>
                </a:solidFill>
                <a:latin typeface="Arial"/>
              </a:rPr>
              <a:t>Sentinel-2 L2A</a:t>
            </a:r>
          </a:p>
          <a:p>
            <a:pPr algn="ctr">
              <a:spcAft>
                <a:spcPts val="0"/>
              </a:spcAft>
            </a:pPr>
            <a:r>
              <a:rPr sz="650" b="0" i="0" u="none">
                <a:solidFill>
                  <a:srgbClr val="556070"/>
                </a:solidFill>
                <a:latin typeface="Arial"/>
              </a:rPr>
              <a:t>K dates · 10 m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1752600" y="1600200"/>
            <a:ext cx="1041400" cy="55880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1790700" y="1612900"/>
            <a:ext cx="9652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Shared encoder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Conv 3×3 ×2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per date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1625600" y="1879600"/>
            <a:ext cx="127000" cy="0"/>
          </a:xfrm>
          <a:prstGeom prst="line">
            <a:avLst/>
          </a:prstGeom>
          <a:ln w="1270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ounded Rectangle 17428"/>
          <p:cNvSpPr/>
          <p:nvPr/>
        </p:nvSpPr>
        <p:spPr>
          <a:xfrm>
            <a:off x="2921000" y="1600200"/>
            <a:ext cx="1193800" cy="558800"/>
          </a:xfrm>
          <a:prstGeom prst="roundRect">
            <a:avLst>
              <a:gd name="adj" fmla="val 12000"/>
            </a:avLst>
          </a:prstGeom>
          <a:solidFill>
            <a:srgbClr val="FDF1E4"/>
          </a:solidFill>
          <a:ln w="12700">
            <a:solidFill>
              <a:srgbClr val="E97A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2959100" y="1612900"/>
            <a:ext cx="11176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Temporal attention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cross-date fusion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sub-pixel shifts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2794000" y="1879600"/>
            <a:ext cx="127000" cy="0"/>
          </a:xfrm>
          <a:prstGeom prst="line">
            <a:avLst/>
          </a:prstGeom>
          <a:ln w="1270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4241800" y="1600200"/>
            <a:ext cx="1498600" cy="558800"/>
          </a:xfrm>
          <a:prstGeom prst="roundRect">
            <a:avLst>
              <a:gd name="adj" fmla="val 12000"/>
            </a:avLst>
          </a:prstGeom>
          <a:solidFill>
            <a:srgbClr val="FDF1E4"/>
          </a:solidFill>
          <a:ln w="9525">
            <a:solidFill>
              <a:srgbClr val="E9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279900" y="1612900"/>
            <a:ext cx="1422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SR backbone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N × SPAN / Swin blocks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1.5 M → ≤15 M params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4114800" y="1879600"/>
            <a:ext cx="127000" cy="0"/>
          </a:xfrm>
          <a:prstGeom prst="line">
            <a:avLst/>
          </a:prstGeom>
          <a:ln w="1270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5867400" y="1600200"/>
            <a:ext cx="1066800" cy="558800"/>
          </a:xfrm>
          <a:prstGeom prst="roundRect">
            <a:avLst>
              <a:gd name="adj" fmla="val 12000"/>
            </a:avLst>
          </a:prstGeom>
          <a:solidFill>
            <a:srgbClr val="FDF1E4"/>
          </a:solidFill>
          <a:ln w="9525">
            <a:solidFill>
              <a:srgbClr val="E9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5905500" y="1612900"/>
            <a:ext cx="9906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Pixel-shuffle ×4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sub-pixel conv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upsampler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5740400" y="1879600"/>
            <a:ext cx="127000" cy="0"/>
          </a:xfrm>
          <a:prstGeom prst="line">
            <a:avLst/>
          </a:prstGeom>
          <a:ln w="1270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7061200" y="1600200"/>
            <a:ext cx="1930400" cy="55880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7099300" y="1612900"/>
            <a:ext cx="18542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LF hard constraint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ŷ = y + F⁻¹[M ⊙ F(U(x) − y)]</a:t>
            </a:r>
          </a:p>
          <a:p>
            <a:pPr algn="ctr">
              <a:spcAft>
                <a:spcPts val="0"/>
              </a:spcAft>
            </a:pPr>
            <a:r>
              <a:rPr sz="620" b="0" i="0" u="none">
                <a:solidFill>
                  <a:srgbClr val="556070"/>
                </a:solidFill>
                <a:latin typeface="Arial"/>
              </a:rPr>
              <a:t>PSF/MTF-matched M (v2)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6934200" y="1879600"/>
            <a:ext cx="127000" cy="0"/>
          </a:xfrm>
          <a:prstGeom prst="line">
            <a:avLst/>
          </a:prstGeom>
          <a:ln w="1270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220200" y="1473200"/>
            <a:ext cx="1117600" cy="53340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9525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Rounded Rectangle 17441"/>
          <p:cNvSpPr/>
          <p:nvPr/>
        </p:nvSpPr>
        <p:spPr>
          <a:xfrm>
            <a:off x="9169400" y="1524000"/>
            <a:ext cx="1117600" cy="53340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9525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9118600" y="1574800"/>
            <a:ext cx="1117600" cy="53340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9525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9118600" y="1600200"/>
            <a:ext cx="1117600" cy="50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50" b="1" i="0" u="none">
                <a:solidFill>
                  <a:srgbClr val="1F3864"/>
                </a:solidFill>
                <a:latin typeface="Arial"/>
              </a:rPr>
              <a:t>ŷ : 10×4H×4W</a:t>
            </a:r>
          </a:p>
          <a:p>
            <a:pPr algn="ctr">
              <a:spcAft>
                <a:spcPts val="0"/>
              </a:spcAft>
            </a:pPr>
            <a:r>
              <a:rPr sz="650" b="0" i="0" u="none">
                <a:solidFill>
                  <a:srgbClr val="556070"/>
                </a:solidFill>
                <a:latin typeface="Arial"/>
              </a:rPr>
              <a:t>2.5 m · 10 bands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8991600" y="1879600"/>
            <a:ext cx="127000" cy="0"/>
          </a:xfrm>
          <a:prstGeom prst="line">
            <a:avLst/>
          </a:prstGeom>
          <a:ln w="12700">
            <a:solidFill>
              <a:srgbClr val="55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6" name="Connector 17445"/>
          <p:cNvCxnSpPr/>
          <p:nvPr/>
        </p:nvCxnSpPr>
        <p:spPr>
          <a:xfrm>
            <a:off x="1016000" y="1524000"/>
            <a:ext cx="6426200" cy="0"/>
          </a:xfrm>
          <a:prstGeom prst="line">
            <a:avLst/>
          </a:prstGeom>
          <a:ln w="1143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TextBox 17446"/>
          <p:cNvSpPr txBox="1"/>
          <p:nvPr/>
        </p:nvSpPr>
        <p:spPr>
          <a:xfrm>
            <a:off x="2540000" y="13843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30" b="0" i="1" u="none">
                <a:solidFill>
                  <a:srgbClr val="0070C0"/>
                </a:solidFill>
                <a:latin typeface="Arial"/>
              </a:rPr>
              <a:t>skip: U(x), antialiased bicubic ×4 (low frequencies of the measurement)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241800" y="2286000"/>
            <a:ext cx="1574800" cy="330200"/>
          </a:xfrm>
          <a:prstGeom prst="roundRect">
            <a:avLst>
              <a:gd name="adj" fmla="val 12000"/>
            </a:avLst>
          </a:prstGeom>
          <a:solidFill>
            <a:srgbClr val="FDF1E4"/>
          </a:solidFill>
          <a:ln w="12700">
            <a:solidFill>
              <a:srgbClr val="E97A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279900" y="22987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Diffusion / flow refiner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4–15 steps · high-freq residual r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918200" y="2286000"/>
            <a:ext cx="1422400" cy="330200"/>
          </a:xfrm>
          <a:prstGeom prst="roundRect">
            <a:avLst>
              <a:gd name="adj" fmla="val 12000"/>
            </a:avLst>
          </a:prstGeom>
          <a:solidFill>
            <a:srgbClr val="FDF1E4"/>
          </a:solidFill>
          <a:ln w="12700">
            <a:solidFill>
              <a:srgbClr val="E97A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5956300" y="2298700"/>
            <a:ext cx="13462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Fidelity ↔ Detail dial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ŷλ = ŷ + λ·r ,  λ ∈ [0,1]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7442200" y="2286000"/>
            <a:ext cx="1422400" cy="3302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 w="9525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7480300" y="2298700"/>
            <a:ext cx="13462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8× dihedral TTA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σ = std of inverted outputs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8991600" y="2286000"/>
            <a:ext cx="1600200" cy="3302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 w="12700">
            <a:solidFill>
              <a:srgbClr val="2E9E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9029700" y="22987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Conformal calibration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P(y ∈ ŷ ± q̂σ) ≥ 1 − α</a:t>
            </a:r>
          </a:p>
        </p:txBody>
      </p:sp>
      <p:cxnSp>
        <p:nvCxnSpPr>
          <p:cNvPr id="17456" name="Connector 17455"/>
          <p:cNvCxnSpPr/>
          <p:nvPr/>
        </p:nvCxnSpPr>
        <p:spPr>
          <a:xfrm>
            <a:off x="8864600" y="2451100"/>
            <a:ext cx="127000" cy="0"/>
          </a:xfrm>
          <a:prstGeom prst="line">
            <a:avLst/>
          </a:prstGeom>
          <a:ln w="12700">
            <a:solidFill>
              <a:srgbClr val="2E9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7" name="Connector 17456"/>
          <p:cNvCxnSpPr/>
          <p:nvPr/>
        </p:nvCxnSpPr>
        <p:spPr>
          <a:xfrm>
            <a:off x="5816600" y="2451100"/>
            <a:ext cx="101600" cy="0"/>
          </a:xfrm>
          <a:prstGeom prst="line">
            <a:avLst/>
          </a:prstGeom>
          <a:ln w="12700">
            <a:solidFill>
              <a:srgbClr val="E9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8" name="Connector 17457"/>
          <p:cNvCxnSpPr/>
          <p:nvPr/>
        </p:nvCxnSpPr>
        <p:spPr>
          <a:xfrm>
            <a:off x="4991100" y="2159000"/>
            <a:ext cx="0" cy="127000"/>
          </a:xfrm>
          <a:prstGeom prst="line">
            <a:avLst/>
          </a:prstGeom>
          <a:ln w="12700">
            <a:solidFill>
              <a:srgbClr val="E9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9" name="Connector 17458"/>
          <p:cNvCxnSpPr/>
          <p:nvPr/>
        </p:nvCxnSpPr>
        <p:spPr>
          <a:xfrm flipH="1">
            <a:off x="8153400" y="2209800"/>
            <a:ext cx="1524000" cy="76200"/>
          </a:xfrm>
          <a:prstGeom prst="line">
            <a:avLst/>
          </a:prstGeom>
          <a:ln w="12700">
            <a:solidFill>
              <a:srgbClr val="2E9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Rounded Rectangle 17459"/>
          <p:cNvSpPr/>
          <p:nvPr/>
        </p:nvSpPr>
        <p:spPr>
          <a:xfrm>
            <a:off x="381000" y="2794000"/>
            <a:ext cx="3742266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Rounded Rectangle 17460"/>
          <p:cNvSpPr/>
          <p:nvPr/>
        </p:nvSpPr>
        <p:spPr>
          <a:xfrm>
            <a:off x="381000" y="2794000"/>
            <a:ext cx="3742266" cy="330200"/>
          </a:xfrm>
          <a:prstGeom prst="roundRect">
            <a:avLst>
              <a:gd name="adj" fmla="val 15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Oval 17461"/>
          <p:cNvSpPr/>
          <p:nvPr/>
        </p:nvSpPr>
        <p:spPr>
          <a:xfrm>
            <a:off x="457200" y="2844800"/>
            <a:ext cx="228600" cy="2286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3" name="Picture 17462" descr="bulls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899664"/>
            <a:ext cx="118872" cy="118872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749300" y="2819400"/>
            <a:ext cx="3310466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0070C0"/>
                </a:solidFill>
                <a:latin typeface="Arial"/>
              </a:rPr>
              <a:t>1 · FIDELITY</a:t>
            </a:r>
          </a:p>
          <a:p>
            <a:pPr algn="l">
              <a:spcAft>
                <a:spcPts val="0"/>
              </a:spcAft>
            </a:pPr>
            <a:r>
              <a:rPr sz="650" b="0" i="0" u="none">
                <a:solidFill>
                  <a:srgbClr val="556070"/>
                </a:solidFill>
                <a:latin typeface="Arial"/>
              </a:rPr>
              <a:t>measured information is never altered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82600" y="31877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4× super-resolution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10 m → 2.5 m ground sampling, 16× pixels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3664161" y="32131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3664161" y="32131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7468" name="Connector 17467"/>
          <p:cNvCxnSpPr/>
          <p:nvPr/>
        </p:nvCxnSpPr>
        <p:spPr>
          <a:xfrm>
            <a:off x="482600" y="3562350"/>
            <a:ext cx="3539066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" name="TextBox 17468"/>
          <p:cNvSpPr txBox="1"/>
          <p:nvPr/>
        </p:nvSpPr>
        <p:spPr>
          <a:xfrm>
            <a:off x="482600" y="358775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Low-frequency constraint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FFT hard layer restores the input's low band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3664161" y="361315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3664161" y="361315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482600" y="3962400"/>
            <a:ext cx="3539066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TextBox 17472"/>
          <p:cNvSpPr txBox="1"/>
          <p:nvPr/>
        </p:nvSpPr>
        <p:spPr>
          <a:xfrm>
            <a:off x="482600" y="39878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PSF / MTF consistency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per-band Gaussian PSF from the S2 MTF spec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3817704" y="401320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3817704" y="401320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482600" y="4362450"/>
            <a:ext cx="3539066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TextBox 17476"/>
          <p:cNvSpPr txBox="1"/>
          <p:nvPr/>
        </p:nvSpPr>
        <p:spPr>
          <a:xfrm>
            <a:off x="482600" y="438785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Spectral consistency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SAM 0.48° (10 m) · ΔNDVI 0.007 measured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3664161" y="441325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3664161" y="441325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482600" y="4762500"/>
            <a:ext cx="3539066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TextBox 17480"/>
          <p:cNvSpPr txBox="1"/>
          <p:nvPr/>
        </p:nvSpPr>
        <p:spPr>
          <a:xfrm>
            <a:off x="482600" y="47879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All-band reconstruction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B2–B8A, B11, B12 to 2.5 m, SWIR via fusion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3664161" y="48133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TextBox 17482"/>
          <p:cNvSpPr txBox="1"/>
          <p:nvPr/>
        </p:nvSpPr>
        <p:spPr>
          <a:xfrm>
            <a:off x="3664161" y="48133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4224866" y="2794000"/>
            <a:ext cx="3742266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5" name="Rounded Rectangle 17484"/>
          <p:cNvSpPr/>
          <p:nvPr/>
        </p:nvSpPr>
        <p:spPr>
          <a:xfrm>
            <a:off x="4224866" y="2794000"/>
            <a:ext cx="3742266" cy="330200"/>
          </a:xfrm>
          <a:prstGeom prst="roundRect">
            <a:avLst>
              <a:gd name="adj" fmla="val 15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Oval 17485"/>
          <p:cNvSpPr/>
          <p:nvPr/>
        </p:nvSpPr>
        <p:spPr>
          <a:xfrm>
            <a:off x="4301066" y="2844800"/>
            <a:ext cx="228600" cy="228600"/>
          </a:xfrm>
          <a:prstGeom prst="ellipse">
            <a:avLst/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z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930" y="2899664"/>
            <a:ext cx="118872" cy="118872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4593166" y="2819400"/>
            <a:ext cx="3310466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E97A1F"/>
                </a:solidFill>
                <a:latin typeface="Arial"/>
              </a:rPr>
              <a:t>2 · DETAIL</a:t>
            </a:r>
          </a:p>
          <a:p>
            <a:pPr algn="l">
              <a:spcAft>
                <a:spcPts val="0"/>
              </a:spcAft>
            </a:pPr>
            <a:r>
              <a:rPr sz="650" b="0" i="0" u="none">
                <a:solidFill>
                  <a:srgbClr val="556070"/>
                </a:solidFill>
                <a:latin typeface="Arial"/>
              </a:rPr>
              <a:t>recover structure a 10 m pixel hides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4326466" y="31877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Deep SR backbone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CNN + SPAN attention (v1); Swin / Mamba ≤15 M (v2)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7508028" y="32131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7508028" y="32131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7492" name="Connector 17491"/>
          <p:cNvCxnSpPr/>
          <p:nvPr/>
        </p:nvCxnSpPr>
        <p:spPr>
          <a:xfrm>
            <a:off x="4326466" y="356235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3" name="TextBox 17492"/>
          <p:cNvSpPr txBox="1"/>
          <p:nvPr/>
        </p:nvSpPr>
        <p:spPr>
          <a:xfrm>
            <a:off x="4326466" y="358775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Temporal attention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fuse 4–8 revisits; sub-pixel shifts add real detail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7661571" y="361315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7661571" y="361315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cxnSp>
        <p:nvCxnSpPr>
          <p:cNvPr id="17496" name="Connector 17495"/>
          <p:cNvCxnSpPr/>
          <p:nvPr/>
        </p:nvCxnSpPr>
        <p:spPr>
          <a:xfrm>
            <a:off x="4326466" y="396240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7" name="TextBox 17496"/>
          <p:cNvSpPr txBox="1"/>
          <p:nvPr/>
        </p:nvSpPr>
        <p:spPr>
          <a:xfrm>
            <a:off x="4326466" y="39878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High-frequency reconstruction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residual learning over U(x); 1.17× edge energy</a:t>
            </a:r>
          </a:p>
        </p:txBody>
      </p:sp>
      <p:sp>
        <p:nvSpPr>
          <p:cNvPr id="17498" name="Rounded Rectangle 17497"/>
          <p:cNvSpPr/>
          <p:nvPr/>
        </p:nvSpPr>
        <p:spPr>
          <a:xfrm>
            <a:off x="7508028" y="40132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9" name="TextBox 17498"/>
          <p:cNvSpPr txBox="1"/>
          <p:nvPr/>
        </p:nvSpPr>
        <p:spPr>
          <a:xfrm>
            <a:off x="7508028" y="40132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7500" name="Connector 17499"/>
          <p:cNvCxnSpPr/>
          <p:nvPr/>
        </p:nvCxnSpPr>
        <p:spPr>
          <a:xfrm>
            <a:off x="4326466" y="436245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1" name="TextBox 17500"/>
          <p:cNvSpPr txBox="1"/>
          <p:nvPr/>
        </p:nvSpPr>
        <p:spPr>
          <a:xfrm>
            <a:off x="4326466" y="438785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Diffusion / flow refinement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optional residual refiner, 4–15 steps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7661571" y="441325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TextBox 17502"/>
          <p:cNvSpPr txBox="1"/>
          <p:nvPr/>
        </p:nvSpPr>
        <p:spPr>
          <a:xfrm>
            <a:off x="7661571" y="441325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cxnSp>
        <p:nvCxnSpPr>
          <p:cNvPr id="17504" name="Connector 17503"/>
          <p:cNvCxnSpPr/>
          <p:nvPr/>
        </p:nvCxnSpPr>
        <p:spPr>
          <a:xfrm>
            <a:off x="4326466" y="476250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5" name="TextBox 17504"/>
          <p:cNvSpPr txBox="1"/>
          <p:nvPr/>
        </p:nvSpPr>
        <p:spPr>
          <a:xfrm>
            <a:off x="4326466" y="47879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Fidelity ↔ Detail control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user dial λ blends fidelity and refiner outputs</a:t>
            </a:r>
          </a:p>
        </p:txBody>
      </p:sp>
      <p:sp>
        <p:nvSpPr>
          <p:cNvPr id="17506" name="Rounded Rectangle 17505"/>
          <p:cNvSpPr/>
          <p:nvPr/>
        </p:nvSpPr>
        <p:spPr>
          <a:xfrm>
            <a:off x="7661571" y="481330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7" name="TextBox 17506"/>
          <p:cNvSpPr txBox="1"/>
          <p:nvPr/>
        </p:nvSpPr>
        <p:spPr>
          <a:xfrm>
            <a:off x="7661571" y="481330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8068733" y="2794000"/>
            <a:ext cx="3742266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Rounded Rectangle 17508"/>
          <p:cNvSpPr/>
          <p:nvPr/>
        </p:nvSpPr>
        <p:spPr>
          <a:xfrm>
            <a:off x="8068733" y="2794000"/>
            <a:ext cx="3742266" cy="330200"/>
          </a:xfrm>
          <a:prstGeom prst="roundRect">
            <a:avLst>
              <a:gd name="adj" fmla="val 15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0" name="Oval 17509"/>
          <p:cNvSpPr/>
          <p:nvPr/>
        </p:nvSpPr>
        <p:spPr>
          <a:xfrm>
            <a:off x="8144933" y="2844800"/>
            <a:ext cx="228600" cy="228600"/>
          </a:xfrm>
          <a:prstGeom prst="ellipse">
            <a:avLst/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1" name="Picture 17510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797" y="2899664"/>
            <a:ext cx="118872" cy="118872"/>
          </a:xfrm>
          <a:prstGeom prst="rect">
            <a:avLst/>
          </a:prstGeom>
        </p:spPr>
      </p:pic>
      <p:sp>
        <p:nvSpPr>
          <p:cNvPr id="17512" name="TextBox 17511"/>
          <p:cNvSpPr txBox="1"/>
          <p:nvPr/>
        </p:nvSpPr>
        <p:spPr>
          <a:xfrm>
            <a:off x="8437033" y="2819400"/>
            <a:ext cx="3310466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2E9E48"/>
                </a:solidFill>
                <a:latin typeface="Arial"/>
              </a:rPr>
              <a:t>3 · TRUST</a:t>
            </a:r>
          </a:p>
          <a:p>
            <a:pPr algn="l">
              <a:spcAft>
                <a:spcPts val="0"/>
              </a:spcAft>
            </a:pPr>
            <a:r>
              <a:rPr sz="650" b="0" i="0" u="none">
                <a:solidFill>
                  <a:srgbClr val="556070"/>
                </a:solidFill>
                <a:latin typeface="Arial"/>
              </a:rPr>
              <a:t>every pixel says how sure it is</a:t>
            </a:r>
          </a:p>
        </p:txBody>
      </p:sp>
      <p:sp>
        <p:nvSpPr>
          <p:cNvPr id="17513" name="TextBox 17512"/>
          <p:cNvSpPr txBox="1"/>
          <p:nvPr/>
        </p:nvSpPr>
        <p:spPr>
          <a:xfrm>
            <a:off x="8170333" y="31877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Uncertainty estimation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per-band σ layer shipped as GeoTIFF</a:t>
            </a:r>
          </a:p>
        </p:txBody>
      </p:sp>
      <p:sp>
        <p:nvSpPr>
          <p:cNvPr id="17514" name="Rounded Rectangle 17513"/>
          <p:cNvSpPr/>
          <p:nvPr/>
        </p:nvSpPr>
        <p:spPr>
          <a:xfrm>
            <a:off x="11351895" y="321310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5" name="TextBox 17514"/>
          <p:cNvSpPr txBox="1"/>
          <p:nvPr/>
        </p:nvSpPr>
        <p:spPr>
          <a:xfrm>
            <a:off x="11351895" y="321310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7516" name="Connector 17515"/>
          <p:cNvCxnSpPr/>
          <p:nvPr/>
        </p:nvCxnSpPr>
        <p:spPr>
          <a:xfrm>
            <a:off x="8170333" y="356235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7" name="TextBox 17516"/>
          <p:cNvSpPr txBox="1"/>
          <p:nvPr/>
        </p:nvSpPr>
        <p:spPr>
          <a:xfrm>
            <a:off x="8170333" y="358775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TTA / ensemble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8 rotations and flips; σ = spread of outputs</a:t>
            </a:r>
          </a:p>
        </p:txBody>
      </p:sp>
      <p:sp>
        <p:nvSpPr>
          <p:cNvPr id="17518" name="Rounded Rectangle 17517"/>
          <p:cNvSpPr/>
          <p:nvPr/>
        </p:nvSpPr>
        <p:spPr>
          <a:xfrm>
            <a:off x="11351895" y="3613150"/>
            <a:ext cx="382905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9" name="TextBox 17518"/>
          <p:cNvSpPr txBox="1"/>
          <p:nvPr/>
        </p:nvSpPr>
        <p:spPr>
          <a:xfrm>
            <a:off x="11351895" y="3613150"/>
            <a:ext cx="382905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7520" name="Connector 17519"/>
          <p:cNvCxnSpPr/>
          <p:nvPr/>
        </p:nvCxnSpPr>
        <p:spPr>
          <a:xfrm>
            <a:off x="8170333" y="396240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1" name="TextBox 17520"/>
          <p:cNvSpPr txBox="1"/>
          <p:nvPr/>
        </p:nvSpPr>
        <p:spPr>
          <a:xfrm>
            <a:off x="8170333" y="39878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Conformal calibration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split-conformal q̂ → intervals with ≥ 1−α coverage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11505438" y="401320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3" name="TextBox 17522"/>
          <p:cNvSpPr txBox="1"/>
          <p:nvPr/>
        </p:nvSpPr>
        <p:spPr>
          <a:xfrm>
            <a:off x="11505438" y="401320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cxnSp>
        <p:nvCxnSpPr>
          <p:cNvPr id="17524" name="Connector 17523"/>
          <p:cNvCxnSpPr/>
          <p:nvPr/>
        </p:nvCxnSpPr>
        <p:spPr>
          <a:xfrm>
            <a:off x="8170333" y="436245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5" name="TextBox 17524"/>
          <p:cNvSpPr txBox="1"/>
          <p:nvPr/>
        </p:nvSpPr>
        <p:spPr>
          <a:xfrm>
            <a:off x="8170333" y="438785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Hallucination detection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phantom-object audit vs HR; must fall in high σ</a:t>
            </a:r>
          </a:p>
        </p:txBody>
      </p:sp>
      <p:sp>
        <p:nvSpPr>
          <p:cNvPr id="17526" name="Rounded Rectangle 17525"/>
          <p:cNvSpPr/>
          <p:nvPr/>
        </p:nvSpPr>
        <p:spPr>
          <a:xfrm>
            <a:off x="11505438" y="441325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7" name="TextBox 17526"/>
          <p:cNvSpPr txBox="1"/>
          <p:nvPr/>
        </p:nvSpPr>
        <p:spPr>
          <a:xfrm>
            <a:off x="11505438" y="441325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cxnSp>
        <p:nvCxnSpPr>
          <p:cNvPr id="17528" name="Connector 17527"/>
          <p:cNvCxnSpPr/>
          <p:nvPr/>
        </p:nvCxnSpPr>
        <p:spPr>
          <a:xfrm>
            <a:off x="8170333" y="4762500"/>
            <a:ext cx="3539067" cy="0"/>
          </a:xfrm>
          <a:prstGeom prst="line">
            <a:avLst/>
          </a:prstGeom>
          <a:ln w="635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9" name="TextBox 17528"/>
          <p:cNvSpPr txBox="1"/>
          <p:nvPr/>
        </p:nvSpPr>
        <p:spPr>
          <a:xfrm>
            <a:off x="8170333" y="4787900"/>
            <a:ext cx="308186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80" b="1" i="0" u="none">
                <a:solidFill>
                  <a:srgbClr val="1F3864"/>
                </a:solidFill>
                <a:latin typeface="Arial"/>
              </a:rPr>
              <a:t>Observed vs inferred detail</a:t>
            </a:r>
          </a:p>
          <a:p>
            <a:pPr algn="l">
              <a:spcAft>
                <a:spcPts val="0"/>
              </a:spcAft>
            </a:pPr>
            <a:r>
              <a:rPr sz="660" b="0" i="0" u="none">
                <a:solidFill>
                  <a:srgbClr val="1A1F2B"/>
                </a:solidFill>
                <a:latin typeface="Arial"/>
              </a:rPr>
              <a:t>multi-date agreement map per pixel</a:t>
            </a:r>
          </a:p>
        </p:txBody>
      </p:sp>
      <p:sp>
        <p:nvSpPr>
          <p:cNvPr id="17530" name="Rounded Rectangle 17529"/>
          <p:cNvSpPr/>
          <p:nvPr/>
        </p:nvSpPr>
        <p:spPr>
          <a:xfrm>
            <a:off x="11505438" y="4813300"/>
            <a:ext cx="229362" cy="139700"/>
          </a:xfrm>
          <a:prstGeom prst="roundRect">
            <a:avLst>
              <a:gd name="adj" fmla="val 50000"/>
            </a:avLst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1" name="TextBox 17530"/>
          <p:cNvSpPr txBox="1"/>
          <p:nvPr/>
        </p:nvSpPr>
        <p:spPr>
          <a:xfrm>
            <a:off x="11505438" y="4813300"/>
            <a:ext cx="229362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V2</a:t>
            </a:r>
          </a:p>
        </p:txBody>
      </p:sp>
      <p:sp>
        <p:nvSpPr>
          <p:cNvPr id="17532" name="Rounded Rectangle 17531"/>
          <p:cNvSpPr/>
          <p:nvPr/>
        </p:nvSpPr>
        <p:spPr>
          <a:xfrm>
            <a:off x="381000" y="5295900"/>
            <a:ext cx="4724400" cy="952500"/>
          </a:xfrm>
          <a:prstGeom prst="roundRect">
            <a:avLst>
              <a:gd name="adj" fmla="val 5000"/>
            </a:avLst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3" name="TextBox 17532"/>
          <p:cNvSpPr txBox="1"/>
          <p:nvPr/>
        </p:nvSpPr>
        <p:spPr>
          <a:xfrm>
            <a:off x="508000" y="5359400"/>
            <a:ext cx="44704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FFB454"/>
                </a:solidFill>
                <a:latin typeface="Arial"/>
              </a:rPr>
              <a:t>4 · INNOVATION</a:t>
            </a:r>
          </a:p>
        </p:txBody>
      </p:sp>
      <p:sp>
        <p:nvSpPr>
          <p:cNvPr id="17534" name="TextBox 17533"/>
          <p:cNvSpPr txBox="1"/>
          <p:nvPr/>
        </p:nvSpPr>
        <p:spPr>
          <a:xfrm>
            <a:off x="508000" y="5549900"/>
            <a:ext cx="4470400" cy="673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01600" indent="-101600">
              <a:spcAft>
                <a:spcPts val="150"/>
              </a:spcAft>
              <a:buClr>
                <a:srgbClr val="FFB454"/>
              </a:buClr>
              <a:buFont typeface="Arial"/>
              <a:buChar char="•"/>
            </a:pPr>
            <a:r>
              <a:rPr sz="690" b="1" i="0" u="none">
                <a:solidFill>
                  <a:srgbClr val="FFFFFF"/>
                </a:solidFill>
                <a:latin typeface="Arial"/>
              </a:rPr>
              <a:t>First trust-first SR pipeline for Sentinel-2 in India: </a:t>
            </a:r>
            <a:r>
              <a:rPr sz="690" b="0" i="0" u="none">
                <a:solidFill>
                  <a:srgbClr val="C9D6EA"/>
                </a:solidFill>
                <a:latin typeface="Arial"/>
              </a:rPr>
              <a:t>fidelity, detail and uncertainty as separate, auditable layers.</a:t>
            </a:r>
          </a:p>
          <a:p>
            <a:pPr algn="l" marL="101600" indent="-101600">
              <a:spcAft>
                <a:spcPts val="150"/>
              </a:spcAft>
              <a:buClr>
                <a:srgbClr val="FFB454"/>
              </a:buClr>
              <a:buFont typeface="Arial"/>
              <a:buChar char="•"/>
            </a:pPr>
            <a:r>
              <a:rPr sz="690" b="1" i="0" u="none">
                <a:solidFill>
                  <a:srgbClr val="FFFFFF"/>
                </a:solidFill>
                <a:latin typeface="Arial"/>
              </a:rPr>
              <a:t>Exact ONNX reformulation of the FFT constraint: </a:t>
            </a:r>
            <a:r>
              <a:rPr sz="690" b="0" i="0" u="none">
                <a:solidFill>
                  <a:srgbClr val="C9D6EA"/>
                </a:solidFill>
                <a:latin typeface="Arial"/>
              </a:rPr>
              <a:t>a 19 MB model with 9×10⁻⁷ parity, runs in any browser.</a:t>
            </a:r>
          </a:p>
          <a:p>
            <a:pPr algn="l" marL="101600" indent="-101600">
              <a:spcAft>
                <a:spcPts val="150"/>
              </a:spcAft>
              <a:buClr>
                <a:srgbClr val="FFB454"/>
              </a:buClr>
              <a:buFont typeface="Arial"/>
              <a:buChar char="•"/>
            </a:pPr>
            <a:r>
              <a:rPr sz="690" b="1" i="0" u="none">
                <a:solidFill>
                  <a:srgbClr val="FFFFFF"/>
                </a:solidFill>
                <a:latin typeface="Arial"/>
              </a:rPr>
              <a:t>Observed vs inferred: </a:t>
            </a:r>
            <a:r>
              <a:rPr sz="690" b="0" i="0" u="none">
                <a:solidFill>
                  <a:srgbClr val="C9D6EA"/>
                </a:solidFill>
                <a:latin typeface="Arial"/>
              </a:rPr>
              <a:t>multi-date fusion + conformal intervals turn SR into evidence, not decoration.</a:t>
            </a:r>
          </a:p>
          <a:p>
            <a:pPr algn="l" marL="101600" indent="-101600">
              <a:spcAft>
                <a:spcPts val="150"/>
              </a:spcAft>
              <a:buClr>
                <a:srgbClr val="FFB454"/>
              </a:buClr>
              <a:buFont typeface="Arial"/>
              <a:buChar char="•"/>
            </a:pPr>
            <a:r>
              <a:rPr sz="690" b="1" i="0" u="none">
                <a:solidFill>
                  <a:srgbClr val="FFFFFF"/>
                </a:solidFill>
                <a:latin typeface="Arial"/>
              </a:rPr>
              <a:t>Sovereign &amp; offline: </a:t>
            </a:r>
            <a:r>
              <a:rPr sz="690" b="0" i="0" u="none">
                <a:solidFill>
                  <a:srgbClr val="C9D6EA"/>
                </a:solidFill>
                <a:latin typeface="Arial"/>
              </a:rPr>
              <a:t>no server, no foreign VHR dependency; air-gapped ready.</a:t>
            </a:r>
          </a:p>
        </p:txBody>
      </p:sp>
      <p:sp>
        <p:nvSpPr>
          <p:cNvPr id="17535" name="Rounded Rectangle 17534"/>
          <p:cNvSpPr/>
          <p:nvPr/>
        </p:nvSpPr>
        <p:spPr>
          <a:xfrm>
            <a:off x="5207000" y="5295900"/>
            <a:ext cx="6604000" cy="9525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6" name="TextBox 17535"/>
          <p:cNvSpPr txBox="1"/>
          <p:nvPr/>
        </p:nvSpPr>
        <p:spPr>
          <a:xfrm>
            <a:off x="5334000" y="5359400"/>
            <a:ext cx="6604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5 · IMPLEMENTATION ROADMAP</a:t>
            </a:r>
          </a:p>
        </p:txBody>
      </p:sp>
      <p:cxnSp>
        <p:nvCxnSpPr>
          <p:cNvPr id="17537" name="Connector 17536"/>
          <p:cNvCxnSpPr/>
          <p:nvPr/>
        </p:nvCxnSpPr>
        <p:spPr>
          <a:xfrm>
            <a:off x="5588000" y="5854700"/>
            <a:ext cx="5842000" cy="0"/>
          </a:xfrm>
          <a:prstGeom prst="line">
            <a:avLst/>
          </a:prstGeom>
          <a:ln w="190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38" name="Oval 17537"/>
          <p:cNvSpPr/>
          <p:nvPr/>
        </p:nvSpPr>
        <p:spPr>
          <a:xfrm>
            <a:off x="5511800" y="5778500"/>
            <a:ext cx="152400" cy="152400"/>
          </a:xfrm>
          <a:prstGeom prst="ellipse">
            <a:avLst/>
          </a:prstGeom>
          <a:solidFill>
            <a:srgbClr val="2E9E48"/>
          </a:solidFill>
          <a:ln w="25400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9" name="TextBox 17538"/>
          <p:cNvSpPr txBox="1"/>
          <p:nvPr/>
        </p:nvSpPr>
        <p:spPr>
          <a:xfrm>
            <a:off x="5080000" y="5575300"/>
            <a:ext cx="1016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2E9E48"/>
                </a:solidFill>
                <a:latin typeface="Arial"/>
              </a:rPr>
              <a:t>Now</a:t>
            </a:r>
          </a:p>
        </p:txBody>
      </p:sp>
      <p:sp>
        <p:nvSpPr>
          <p:cNvPr id="17540" name="TextBox 17539"/>
          <p:cNvSpPr txBox="1"/>
          <p:nvPr/>
        </p:nvSpPr>
        <p:spPr>
          <a:xfrm>
            <a:off x="5054600" y="5956300"/>
            <a:ext cx="10668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v1 prototype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live web app, 5 sites</a:t>
            </a:r>
          </a:p>
        </p:txBody>
      </p:sp>
      <p:sp>
        <p:nvSpPr>
          <p:cNvPr id="17541" name="Oval 17540"/>
          <p:cNvSpPr/>
          <p:nvPr/>
        </p:nvSpPr>
        <p:spPr>
          <a:xfrm>
            <a:off x="6680200" y="5778500"/>
            <a:ext cx="152400" cy="152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2" name="TextBox 17541"/>
          <p:cNvSpPr txBox="1"/>
          <p:nvPr/>
        </p:nvSpPr>
        <p:spPr>
          <a:xfrm>
            <a:off x="6248400" y="5575300"/>
            <a:ext cx="1016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Wk 1–3</a:t>
            </a:r>
          </a:p>
        </p:txBody>
      </p:sp>
      <p:sp>
        <p:nvSpPr>
          <p:cNvPr id="17543" name="TextBox 17542"/>
          <p:cNvSpPr txBox="1"/>
          <p:nvPr/>
        </p:nvSpPr>
        <p:spPr>
          <a:xfrm>
            <a:off x="6223000" y="5956300"/>
            <a:ext cx="10668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Data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SEN2NAIPv2 · WorldStrat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India ref. set</a:t>
            </a:r>
          </a:p>
        </p:txBody>
      </p:sp>
      <p:sp>
        <p:nvSpPr>
          <p:cNvPr id="17544" name="Oval 17543"/>
          <p:cNvSpPr/>
          <p:nvPr/>
        </p:nvSpPr>
        <p:spPr>
          <a:xfrm>
            <a:off x="7848600" y="5778500"/>
            <a:ext cx="152400" cy="152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5" name="TextBox 17544"/>
          <p:cNvSpPr txBox="1"/>
          <p:nvPr/>
        </p:nvSpPr>
        <p:spPr>
          <a:xfrm>
            <a:off x="7416800" y="5575300"/>
            <a:ext cx="1016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0070C0"/>
                </a:solidFill>
                <a:latin typeface="Arial"/>
              </a:rPr>
              <a:t>Wk 3–6</a:t>
            </a:r>
          </a:p>
        </p:txBody>
      </p:sp>
      <p:sp>
        <p:nvSpPr>
          <p:cNvPr id="17546" name="TextBox 17545"/>
          <p:cNvSpPr txBox="1"/>
          <p:nvPr/>
        </p:nvSpPr>
        <p:spPr>
          <a:xfrm>
            <a:off x="7391400" y="5956300"/>
            <a:ext cx="10668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Fine-tune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PSF/MTF loss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Indian adaptation</a:t>
            </a:r>
          </a:p>
        </p:txBody>
      </p:sp>
      <p:sp>
        <p:nvSpPr>
          <p:cNvPr id="17547" name="Oval 17546"/>
          <p:cNvSpPr/>
          <p:nvPr/>
        </p:nvSpPr>
        <p:spPr>
          <a:xfrm>
            <a:off x="9017000" y="5778500"/>
            <a:ext cx="152400" cy="152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9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8" name="TextBox 17547"/>
          <p:cNvSpPr txBox="1"/>
          <p:nvPr/>
        </p:nvSpPr>
        <p:spPr>
          <a:xfrm>
            <a:off x="8585200" y="5575300"/>
            <a:ext cx="1016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E97A1F"/>
                </a:solidFill>
                <a:latin typeface="Arial"/>
              </a:rPr>
              <a:t>Wk 6–9</a:t>
            </a:r>
          </a:p>
        </p:txBody>
      </p:sp>
      <p:sp>
        <p:nvSpPr>
          <p:cNvPr id="17549" name="TextBox 17548"/>
          <p:cNvSpPr txBox="1"/>
          <p:nvPr/>
        </p:nvSpPr>
        <p:spPr>
          <a:xfrm>
            <a:off x="8559800" y="5956300"/>
            <a:ext cx="10668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Temporal + refiner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attention fusion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λ dial</a:t>
            </a:r>
          </a:p>
        </p:txBody>
      </p:sp>
      <p:sp>
        <p:nvSpPr>
          <p:cNvPr id="17550" name="Oval 17549"/>
          <p:cNvSpPr/>
          <p:nvPr/>
        </p:nvSpPr>
        <p:spPr>
          <a:xfrm>
            <a:off x="10185400" y="5778500"/>
            <a:ext cx="152400" cy="152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1" name="TextBox 17550"/>
          <p:cNvSpPr txBox="1"/>
          <p:nvPr/>
        </p:nvSpPr>
        <p:spPr>
          <a:xfrm>
            <a:off x="9753600" y="5575300"/>
            <a:ext cx="1016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2E9E48"/>
                </a:solidFill>
                <a:latin typeface="Arial"/>
              </a:rPr>
              <a:t>Wk 8–10</a:t>
            </a:r>
          </a:p>
        </p:txBody>
      </p:sp>
      <p:sp>
        <p:nvSpPr>
          <p:cNvPr id="17552" name="TextBox 17551"/>
          <p:cNvSpPr txBox="1"/>
          <p:nvPr/>
        </p:nvSpPr>
        <p:spPr>
          <a:xfrm>
            <a:off x="9728200" y="5956300"/>
            <a:ext cx="10668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Trust v2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conformal · phantom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audit · OpenSR-test</a:t>
            </a:r>
          </a:p>
        </p:txBody>
      </p:sp>
      <p:sp>
        <p:nvSpPr>
          <p:cNvPr id="17553" name="Oval 17552"/>
          <p:cNvSpPr/>
          <p:nvPr/>
        </p:nvSpPr>
        <p:spPr>
          <a:xfrm>
            <a:off x="11353800" y="5778500"/>
            <a:ext cx="152400" cy="152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4" name="TextBox 17553"/>
          <p:cNvSpPr txBox="1"/>
          <p:nvPr/>
        </p:nvSpPr>
        <p:spPr>
          <a:xfrm>
            <a:off x="10922000" y="5575300"/>
            <a:ext cx="1016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Wk 10–12</a:t>
            </a:r>
          </a:p>
        </p:txBody>
      </p:sp>
      <p:sp>
        <p:nvSpPr>
          <p:cNvPr id="17555" name="TextBox 17554"/>
          <p:cNvSpPr txBox="1"/>
          <p:nvPr/>
        </p:nvSpPr>
        <p:spPr>
          <a:xfrm>
            <a:off x="10896600" y="5956300"/>
            <a:ext cx="10668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700" b="1" i="0" u="none">
                <a:solidFill>
                  <a:srgbClr val="1F3864"/>
                </a:solidFill>
                <a:latin typeface="Arial"/>
              </a:rPr>
              <a:t>Finale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task validation</a:t>
            </a:r>
          </a:p>
          <a:p>
            <a:pPr algn="ctr">
              <a:spcAft>
                <a:spcPts val="0"/>
              </a:spcAft>
            </a:pPr>
            <a:r>
              <a:rPr sz="600" b="0" i="0" u="none">
                <a:solidFill>
                  <a:srgbClr val="556070"/>
                </a:solidFill>
                <a:latin typeface="Arial"/>
              </a:rPr>
              <a:t>QGIS · hardening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14500" y="177800"/>
            <a:ext cx="8026400" cy="787400"/>
          </a:xfrm>
        </p:spPr>
        <p:txBody>
          <a:bodyPr wrap="square" anchor="ctr"/>
          <a:lstStyle/>
          <a:p>
            <a:pPr eaLnBrk="1" hangingPunct="1" algn="ctr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 IMPACT &amp; VALIDATION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5400" rIns="25400"/>
          <a:lstStyle/>
          <a:p>
            <a:pPr algn="ctr"/>
            <a:r>
              <a:rPr lang="en-US" dirty="0" sz="1100" b="1">
                <a:solidFill>
                  <a:srgbClr val="1F3864"/>
                </a:solidFill>
              </a:rPr>
              <a:t>Sentinels_W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1000" y="1117600"/>
            <a:ext cx="56515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900" b="1" i="0" u="sng">
                <a:solidFill>
                  <a:srgbClr val="1F3864"/>
                </a:solidFill>
                <a:latin typeface="Arial"/>
              </a:rPr>
              <a:t>Potential challenges and risks  ·  Strategies for overcoming these challenges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81000" y="1346200"/>
          <a:ext cx="5651500" cy="1866900"/>
        </p:xfrm>
        <a:graphic>
          <a:graphicData uri="http://schemas.openxmlformats.org/drawingml/2006/table">
            <a:tbl>
              <a:tblPr firstRow="1" bandRow="1"/>
              <a:tblGrid>
                <a:gridCol w="1320800"/>
                <a:gridCol w="431800"/>
                <a:gridCol w="3898900"/>
              </a:tblGrid>
              <a:tr h="266700"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0800" marR="50800" marT="19050" marB="1905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0800" marR="50800" marT="19050" marB="1905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50800" marR="50800" marT="19050" marB="19050" anchor="ctr">
                    <a:solidFill>
                      <a:srgbClr val="1F3864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Hallucinated detail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C63D3D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FFT hard constraint + σ map; flagged, never hidden; phantom audit (v2)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Domain gap (US-trained)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C63D3D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Fine-tune on Indian refs (Cartosat via NRSC/NTRO, WorldStrat)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Clouds / monsoon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E97A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12-month SCL-scored search; multi-date fusion; SAR guidance (v2)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No 2.5 m ground truth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E97A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Self-consistency now; OpenSR-test + task-level tests (v2)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Cross-sensor misalignment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E97A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Co-registration + shift-tolerant loss in training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Scale &amp; compute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2E9E48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Browser for on-demand; tiled GPU batch for state-scale mosaics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6159500" y="1117600"/>
            <a:ext cx="56515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900" b="1" i="0" u="sng">
                <a:solidFill>
                  <a:srgbClr val="1F3864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59500" y="1346200"/>
            <a:ext cx="2774950" cy="8382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Oval 17413"/>
          <p:cNvSpPr/>
          <p:nvPr/>
        </p:nvSpPr>
        <p:spPr>
          <a:xfrm>
            <a:off x="6248400" y="1435100"/>
            <a:ext cx="254000" cy="254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5" name="Picture 17414" descr="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96060"/>
            <a:ext cx="132080" cy="1320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6565900" y="1435100"/>
            <a:ext cx="1758950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Technical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375650" y="1485900"/>
            <a:ext cx="482600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8375650" y="1485900"/>
            <a:ext cx="482600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61100" y="1739900"/>
            <a:ext cx="259715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Prototype live; 5 Indian sites validated</a:t>
            </a:r>
          </a:p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19 MB model · ≈6 s per 1.28 km tile, laptop CPU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036050" y="1346200"/>
            <a:ext cx="2774950" cy="8382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9124950" y="1435100"/>
            <a:ext cx="254000" cy="254000"/>
          </a:xfrm>
          <a:prstGeom prst="ellipse">
            <a:avLst/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2" name="Picture 17421" descr="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5910" y="1496060"/>
            <a:ext cx="132080" cy="13208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9442450" y="1435100"/>
            <a:ext cx="1758950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Economic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1252200" y="1485900"/>
            <a:ext cx="482600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11252200" y="1485900"/>
            <a:ext cx="482600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137650" y="1739900"/>
            <a:ext cx="259715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Data free (Copernicus), 5-day revisit</a:t>
            </a:r>
          </a:p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Hosting ₹0 (static); training on free GPUs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59500" y="2260600"/>
            <a:ext cx="2774950" cy="8382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6248400" y="2349500"/>
            <a:ext cx="254000" cy="254000"/>
          </a:xfrm>
          <a:prstGeom prst="ellipse">
            <a:avLst/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9" name="Picture 17428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410460"/>
            <a:ext cx="132080" cy="132080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6565900" y="2349500"/>
            <a:ext cx="1758950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Operational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375650" y="2400300"/>
            <a:ext cx="482600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8375650" y="2400300"/>
            <a:ext cx="482600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261100" y="2654300"/>
            <a:ext cx="259715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No install: open a link, or run air-gapped</a:t>
            </a:r>
          </a:p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Standard GeoTIFF output for GIS workflows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036050" y="2260600"/>
            <a:ext cx="2774950" cy="8382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Oval 17434"/>
          <p:cNvSpPr/>
          <p:nvPr/>
        </p:nvSpPr>
        <p:spPr>
          <a:xfrm>
            <a:off x="9124950" y="2349500"/>
            <a:ext cx="254000" cy="2540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5910" y="2410460"/>
            <a:ext cx="132080" cy="132080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9442450" y="2349500"/>
            <a:ext cx="1758950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1F3864"/>
                </a:solidFill>
                <a:latin typeface="Arial"/>
              </a:rPr>
              <a:t>Legal &amp; data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11252200" y="2400300"/>
            <a:ext cx="482600" cy="139700"/>
          </a:xfrm>
          <a:prstGeom prst="roundRect">
            <a:avLst>
              <a:gd name="adj" fmla="val 50000"/>
            </a:avLst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11252200" y="2400300"/>
            <a:ext cx="482600" cy="139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650" b="1" i="0" u="none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9137650" y="2654300"/>
            <a:ext cx="259715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Model CC0-1.0; Sentinel data open licence</a:t>
            </a:r>
          </a:p>
          <a:p>
            <a:pPr algn="l" marL="101600" indent="-101600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No personal data; nothing leaves the device</a:t>
            </a:r>
          </a:p>
        </p:txBody>
      </p:sp>
      <p:sp>
        <p:nvSpPr>
          <p:cNvPr id="17441" name="Oval 17440"/>
          <p:cNvSpPr/>
          <p:nvPr/>
        </p:nvSpPr>
        <p:spPr>
          <a:xfrm>
            <a:off x="381000" y="3276600"/>
            <a:ext cx="203200" cy="203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2" name="Picture 17441" descr="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3325367"/>
            <a:ext cx="105664" cy="10566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647700" y="3263900"/>
            <a:ext cx="53848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Validation metrics · v1 measured on 5 Indian study areas (TTA = 8)</a:t>
            </a:r>
          </a:p>
        </p:txBody>
      </p:sp>
      <p:graphicFrame>
        <p:nvGraphicFramePr>
          <p:cNvPr id="17444" name="Table 17443"/>
          <p:cNvGraphicFramePr>
            <a:graphicFrameLocks noGrp="1"/>
          </p:cNvGraphicFramePr>
          <p:nvPr/>
        </p:nvGraphicFramePr>
        <p:xfrm>
          <a:off x="381000" y="3530600"/>
          <a:ext cx="5651500" cy="1849120"/>
        </p:xfrm>
        <a:graphic>
          <a:graphicData uri="http://schemas.openxmlformats.org/drawingml/2006/table">
            <a:tbl>
              <a:tblPr firstRow="1" bandRow="1"/>
              <a:tblGrid>
                <a:gridCol w="1905000"/>
                <a:gridCol w="787400"/>
                <a:gridCol w="914400"/>
                <a:gridCol w="2044700"/>
              </a:tblGrid>
              <a:tr h="231140"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0800" marR="50800" marT="19050" marB="1905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50800" marR="50800" marT="19050" marB="1905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 marL="50800" marR="50800" marT="19050" marB="1905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0800" marR="50800" marT="19050" marB="19050" anchor="ctr">
                    <a:solidFill>
                      <a:srgbClr val="1F3864"/>
                    </a:solidFill>
                  </a:tcPr>
                </a:tc>
              </a:tr>
              <a:tr h="23114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Consistency PSNR, 10 m bands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1A1F2B"/>
                          </a:solidFill>
                          <a:latin typeface="Arial"/>
                        </a:rPr>
                        <a:t>51.1 dB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49.2 – 53.1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&gt; 40 dB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Consistency PSNR, 20 m bands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1A1F2B"/>
                          </a:solidFill>
                          <a:latin typeface="Arial"/>
                        </a:rPr>
                        <a:t>36.8 dB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34.7 – 40.0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&gt; 33 dB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</a:tr>
              <a:tr h="23114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Spectral angle (SAM), 10 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1A1F2B"/>
                          </a:solidFill>
                          <a:latin typeface="Arial"/>
                        </a:rPr>
                        <a:t>0.48°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0.23 – 0.62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&lt; 1.5°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NDVI deviation (MAE)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1A1F2B"/>
                          </a:solidFill>
                          <a:latin typeface="Arial"/>
                        </a:rPr>
                        <a:t>0.0066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0.003 – 0.009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&lt; 0.02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</a:tr>
              <a:tr h="23114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Edge-energy gain vs bicubic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1A1F2B"/>
                          </a:solidFill>
                          <a:latin typeface="Arial"/>
                        </a:rPr>
                        <a:t>1.17×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1.14 – 1.21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&gt; 1.1×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Pixels flagged σ &gt; 0.01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1A1F2B"/>
                          </a:solidFill>
                          <a:latin typeface="Arial"/>
                        </a:rPr>
                        <a:t>0.05 %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0 – 0.19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&lt; 5 %</a:t>
                      </a:r>
                    </a:p>
                  </a:txBody>
                  <a:tcPr marL="50800" marR="50800" marT="19050" marB="19050" anchor="ctr">
                    <a:solidFill>
                      <a:srgbClr val="F1F5FA"/>
                    </a:solidFill>
                  </a:tcPr>
                </a:tc>
              </a:tr>
              <a:tr h="231140"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Browser vs Python parity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1">
                          <a:solidFill>
                            <a:srgbClr val="1A1F2B"/>
                          </a:solidFill>
                          <a:latin typeface="Arial"/>
                        </a:rPr>
                        <a:t>0.02 dB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same scene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80" b="0">
                          <a:solidFill>
                            <a:srgbClr val="1A1F2B"/>
                          </a:solidFill>
                          <a:latin typeface="Arial"/>
                        </a:rPr>
                        <a:t>&lt; 0.1 dB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45" name="TextBox 17444"/>
          <p:cNvSpPr txBox="1"/>
          <p:nvPr/>
        </p:nvSpPr>
        <p:spPr>
          <a:xfrm>
            <a:off x="381000" y="5417820"/>
            <a:ext cx="56515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40" b="1" i="0" u="none">
                <a:solidFill>
                  <a:srgbClr val="1F3864"/>
                </a:solidFill>
                <a:latin typeface="Arial"/>
              </a:rPr>
              <a:t>v2 reference validation: </a:t>
            </a:r>
            <a:r>
              <a:rPr sz="640" b="0" i="0" u="none">
                <a:solidFill>
                  <a:srgbClr val="556070"/>
                </a:solidFill>
                <a:latin typeface="Arial"/>
              </a:rPr>
              <a:t>OpenSR-test and SEN2NAIPv2 cross-sensor pairs (PSNR · SSIM · LPIPS · SAM), India Cartosat set, and building / road / field-boundary / change-detection F1.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159500" y="3251200"/>
            <a:ext cx="56515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900" b="1" i="0" u="sng">
                <a:solidFill>
                  <a:srgbClr val="1F3864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159500" y="3505200"/>
            <a:ext cx="1833033" cy="4953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Oval 17447"/>
          <p:cNvSpPr/>
          <p:nvPr/>
        </p:nvSpPr>
        <p:spPr>
          <a:xfrm>
            <a:off x="6223000" y="3606800"/>
            <a:ext cx="279400" cy="2794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lock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0056" y="3673855"/>
            <a:ext cx="145288" cy="145288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6553200" y="3530600"/>
            <a:ext cx="1401233" cy="444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Defence &amp; intelligence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site-level look without VHR tasking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068733" y="3505200"/>
            <a:ext cx="1833033" cy="4953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Oval 17451"/>
          <p:cNvSpPr/>
          <p:nvPr/>
        </p:nvSpPr>
        <p:spPr>
          <a:xfrm>
            <a:off x="8132233" y="3606800"/>
            <a:ext cx="279400" cy="279400"/>
          </a:xfrm>
          <a:prstGeom prst="ellipse">
            <a:avLst/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3" name="Picture 17452" descr="floo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9289" y="3673855"/>
            <a:ext cx="145288" cy="145288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462433" y="3530600"/>
            <a:ext cx="1401233" cy="444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Disaster management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landslide / flood extent at 2.5 m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9977966" y="3505200"/>
            <a:ext cx="1833033" cy="4953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10041466" y="3606800"/>
            <a:ext cx="279400" cy="279400"/>
          </a:xfrm>
          <a:prstGeom prst="ellipse">
            <a:avLst/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7" name="Picture 17456" descr="whea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8522" y="3673855"/>
            <a:ext cx="145288" cy="145288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10371666" y="3530600"/>
            <a:ext cx="1401233" cy="444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Agriculture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field-level NDVI, smallholder bunds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6159500" y="4064000"/>
            <a:ext cx="1833033" cy="4953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Oval 17459"/>
          <p:cNvSpPr/>
          <p:nvPr/>
        </p:nvSpPr>
        <p:spPr>
          <a:xfrm>
            <a:off x="6223000" y="4165600"/>
            <a:ext cx="279400" cy="2794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1" name="Picture 17460" descr="c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0056" y="4232656"/>
            <a:ext cx="145288" cy="145288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6553200" y="4089400"/>
            <a:ext cx="1401233" cy="444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Urban planning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buildings, roads, encroachment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8068733" y="4064000"/>
            <a:ext cx="1833033" cy="4953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Oval 17463"/>
          <p:cNvSpPr/>
          <p:nvPr/>
        </p:nvSpPr>
        <p:spPr>
          <a:xfrm>
            <a:off x="8132233" y="4165600"/>
            <a:ext cx="279400" cy="2794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5" name="Picture 17464" descr="wat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9289" y="4232656"/>
            <a:ext cx="145288" cy="145288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8462433" y="4089400"/>
            <a:ext cx="1401233" cy="444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Water &amp; environment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ponds, shorelines, forest loss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9977966" y="4064000"/>
            <a:ext cx="1833033" cy="4953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Oval 17467"/>
          <p:cNvSpPr/>
          <p:nvPr/>
        </p:nvSpPr>
        <p:spPr>
          <a:xfrm>
            <a:off x="10041466" y="4165600"/>
            <a:ext cx="279400" cy="279400"/>
          </a:xfrm>
          <a:prstGeom prst="ellipse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9" name="Picture 17468" descr="gra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08522" y="4232656"/>
            <a:ext cx="145288" cy="145288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10371666" y="4089400"/>
            <a:ext cx="1401233" cy="444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30" b="1" i="0" u="none">
                <a:solidFill>
                  <a:srgbClr val="1F3864"/>
                </a:solidFill>
                <a:latin typeface="Arial"/>
              </a:rPr>
              <a:t>Research &amp; education</a:t>
            </a:r>
          </a:p>
          <a:p>
            <a:pPr algn="l">
              <a:spcAft>
                <a:spcPts val="0"/>
              </a:spcAft>
            </a:pPr>
            <a:r>
              <a:rPr sz="630" b="0" i="0" u="none">
                <a:solidFill>
                  <a:srgbClr val="556070"/>
                </a:solidFill>
                <a:latin typeface="Arial"/>
              </a:rPr>
              <a:t>open, runs on a student laptop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159500" y="4648200"/>
            <a:ext cx="56515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900" b="1" i="0" u="sng">
                <a:solidFill>
                  <a:srgbClr val="1F3864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6159500" y="4876800"/>
            <a:ext cx="1355725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Oval 17472"/>
          <p:cNvSpPr/>
          <p:nvPr/>
        </p:nvSpPr>
        <p:spPr>
          <a:xfrm>
            <a:off x="6223000" y="4953000"/>
            <a:ext cx="228600" cy="2286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4" name="Picture 17473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864" y="5007864"/>
            <a:ext cx="118872" cy="118872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6502400" y="4940300"/>
            <a:ext cx="974725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60" b="1" i="0" u="none">
                <a:solidFill>
                  <a:srgbClr val="1F3864"/>
                </a:solidFill>
                <a:latin typeface="Arial"/>
              </a:rPr>
              <a:t>Social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6235700" y="5232400"/>
            <a:ext cx="1228725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Faster, better-targeted relief</a:t>
            </a:r>
          </a:p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Field-level farm advisories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7591425" y="4876800"/>
            <a:ext cx="1355725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Oval 17477"/>
          <p:cNvSpPr/>
          <p:nvPr/>
        </p:nvSpPr>
        <p:spPr>
          <a:xfrm>
            <a:off x="7654925" y="4953000"/>
            <a:ext cx="228600" cy="228600"/>
          </a:xfrm>
          <a:prstGeom prst="ellipse">
            <a:avLst/>
          </a:prstGeom>
          <a:solidFill>
            <a:srgbClr val="E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9" name="Picture 17478" descr="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789" y="5007864"/>
            <a:ext cx="118872" cy="118872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7934325" y="4940300"/>
            <a:ext cx="974725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60" b="1" i="0" u="none">
                <a:solidFill>
                  <a:srgbClr val="1F3864"/>
                </a:solidFill>
                <a:latin typeface="Arial"/>
              </a:rPr>
              <a:t>Economic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7667625" y="5232400"/>
            <a:ext cx="1228725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2.5 m-class from free data</a:t>
            </a:r>
          </a:p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No per-km² VHR licences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9023350" y="4876800"/>
            <a:ext cx="1355725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Oval 17482"/>
          <p:cNvSpPr/>
          <p:nvPr/>
        </p:nvSpPr>
        <p:spPr>
          <a:xfrm>
            <a:off x="9086850" y="4953000"/>
            <a:ext cx="228600" cy="228600"/>
          </a:xfrm>
          <a:prstGeom prst="ellipse">
            <a:avLst/>
          </a:prstGeom>
          <a:solidFill>
            <a:srgbClr val="2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4" name="Picture 17483" descr="lea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1714" y="5007864"/>
            <a:ext cx="118872" cy="118872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9366250" y="4940300"/>
            <a:ext cx="974725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60" b="1" i="0" u="none">
                <a:solidFill>
                  <a:srgbClr val="1F3864"/>
                </a:solidFill>
                <a:latin typeface="Arial"/>
              </a:rPr>
              <a:t>Environmental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9099550" y="5232400"/>
            <a:ext cx="1228725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Finer land &amp; water monitoring</a:t>
            </a:r>
          </a:p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Early landslide / erosion maps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10455275" y="4876800"/>
            <a:ext cx="1355725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Oval 17487"/>
          <p:cNvSpPr/>
          <p:nvPr/>
        </p:nvSpPr>
        <p:spPr>
          <a:xfrm>
            <a:off x="10518775" y="4953000"/>
            <a:ext cx="228600" cy="2286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fla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3639" y="5007864"/>
            <a:ext cx="118872" cy="118872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10798175" y="4940300"/>
            <a:ext cx="974725" cy="25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760" b="1" i="0" u="none">
                <a:solidFill>
                  <a:srgbClr val="1F3864"/>
                </a:solidFill>
                <a:latin typeface="Arial"/>
              </a:rPr>
              <a:t>Strategic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10531475" y="5232400"/>
            <a:ext cx="1228725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Sovereign, offline capability</a:t>
            </a:r>
          </a:p>
          <a:p>
            <a:pPr algn="l" marL="88900" indent="-88900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700" b="0" i="0" u="none">
                <a:solidFill>
                  <a:srgbClr val="1A1F2B"/>
                </a:solidFill>
                <a:latin typeface="Arial"/>
              </a:rPr>
              <a:t>No foreign data dependency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5400" rIns="25400"/>
          <a:lstStyle/>
          <a:p>
            <a:pPr algn="ctr"/>
            <a:r>
              <a:rPr lang="en-US" dirty="0" sz="1100" b="1">
                <a:solidFill>
                  <a:srgbClr val="1F3864"/>
                </a:solidFill>
              </a:rPr>
              <a:t>Sentinels_W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1000" y="1092200"/>
            <a:ext cx="76962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0070C0"/>
                </a:solidFill>
                <a:latin typeface="Arial"/>
              </a:rPr>
              <a:t>❖ </a:t>
            </a:r>
            <a:r>
              <a:rPr sz="1050" b="1" i="0" u="sng">
                <a:solidFill>
                  <a:srgbClr val="1F3864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81000" y="1320800"/>
            <a:ext cx="203200" cy="203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369568"/>
            <a:ext cx="105664" cy="105664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647700" y="1308100"/>
            <a:ext cx="74295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Key findings from the literature → our design decisions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81000" y="1574800"/>
            <a:ext cx="4978400" cy="304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457200" y="1574800"/>
            <a:ext cx="48514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0" i="0" u="none">
                <a:solidFill>
                  <a:srgbClr val="1A1F2B"/>
                </a:solidFill>
                <a:latin typeface="Arial"/>
              </a:rPr>
              <a:t>SEN2SR [1]: a low-frequency hard constraint gives radiometric consistency; &gt; 15 M parameters brought no significant gain.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384800" y="1727200"/>
            <a:ext cx="177800" cy="0"/>
          </a:xfrm>
          <a:prstGeom prst="line">
            <a:avLst/>
          </a:prstGeom>
          <a:ln w="15240">
            <a:solidFill>
              <a:srgbClr val="E9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5588000" y="1574800"/>
            <a:ext cx="2489200" cy="3048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5664200" y="1574800"/>
            <a:ext cx="23368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1" i="0" u="none">
                <a:solidFill>
                  <a:srgbClr val="1F3864"/>
                </a:solidFill>
                <a:latin typeface="Arial"/>
              </a:rPr>
              <a:t>Keep the constraint; compact 1.5–15 M backbone.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81000" y="1917700"/>
            <a:ext cx="4978400" cy="304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457200" y="1917700"/>
            <a:ext cx="48514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0" i="0" u="none">
                <a:solidFill>
                  <a:srgbClr val="1A1F2B"/>
                </a:solidFill>
                <a:latin typeface="Arial"/>
              </a:rPr>
              <a:t>GeoSR-Bench [13]: PSNR / SSIM gains often do not track downstream-task gains, and can even run opposite.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384800" y="2070100"/>
            <a:ext cx="177800" cy="0"/>
          </a:xfrm>
          <a:prstGeom prst="line">
            <a:avLst/>
          </a:prstGeom>
          <a:ln w="15240">
            <a:solidFill>
              <a:srgbClr val="E9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5588000" y="1917700"/>
            <a:ext cx="2489200" cy="3048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5664200" y="1917700"/>
            <a:ext cx="23368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1" i="0" u="none">
                <a:solidFill>
                  <a:srgbClr val="1F3864"/>
                </a:solidFill>
                <a:latin typeface="Arial"/>
              </a:rPr>
              <a:t>Validate on buildings, roads, bunds, change.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81000" y="2260600"/>
            <a:ext cx="4978400" cy="304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457200" y="2260600"/>
            <a:ext cx="48514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0" i="0" u="none">
                <a:solidFill>
                  <a:srgbClr val="1A1F2B"/>
                </a:solidFill>
                <a:latin typeface="Arial"/>
              </a:rPr>
              <a:t>LDSR-S2 [6]: the only prior S2 SR with pixel-wise uncertainty, but diffusion is slow.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5384800" y="2413000"/>
            <a:ext cx="177800" cy="0"/>
          </a:xfrm>
          <a:prstGeom prst="line">
            <a:avLst/>
          </a:prstGeom>
          <a:ln w="15240">
            <a:solidFill>
              <a:srgbClr val="E9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5588000" y="2260600"/>
            <a:ext cx="2489200" cy="3048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5664200" y="2260600"/>
            <a:ext cx="23368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1" i="0" u="none">
                <a:solidFill>
                  <a:srgbClr val="1F3864"/>
                </a:solidFill>
                <a:latin typeface="Arial"/>
              </a:rPr>
              <a:t>TTA σ now; diffusion only as optional refiner.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81000" y="2603500"/>
            <a:ext cx="4978400" cy="304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457200" y="2603500"/>
            <a:ext cx="48514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0" i="0" u="none">
                <a:solidFill>
                  <a:srgbClr val="1A1F2B"/>
                </a:solidFill>
                <a:latin typeface="Arial"/>
              </a:rPr>
              <a:t>SEN2NAIP [9]: 2,851 real + 17,657 synthetic pairs; real pairs are mis-registered.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5384800" y="2755900"/>
            <a:ext cx="177800" cy="0"/>
          </a:xfrm>
          <a:prstGeom prst="line">
            <a:avLst/>
          </a:prstGeom>
          <a:ln w="15240">
            <a:solidFill>
              <a:srgbClr val="E9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5588000" y="2603500"/>
            <a:ext cx="2489200" cy="3048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5664200" y="2603500"/>
            <a:ext cx="23368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1" i="0" u="none">
                <a:solidFill>
                  <a:srgbClr val="1F3864"/>
                </a:solidFill>
                <a:latin typeface="Arial"/>
              </a:rPr>
              <a:t>Synthetic pre-train, shift-tolerant fine-tune.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81000" y="2946400"/>
            <a:ext cx="4978400" cy="304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457200" y="2946400"/>
            <a:ext cx="48514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0" i="0" u="none">
                <a:solidFill>
                  <a:srgbClr val="1A1F2B"/>
                </a:solidFill>
                <a:latin typeface="Arial"/>
              </a:rPr>
              <a:t>HighRes-net, WorldStrat, MuS2 [8, 10, 11]: multiple revisits add true sub-pixel information.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5384800" y="3098800"/>
            <a:ext cx="177800" cy="0"/>
          </a:xfrm>
          <a:prstGeom prst="line">
            <a:avLst/>
          </a:prstGeom>
          <a:ln w="15240">
            <a:solidFill>
              <a:srgbClr val="E9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5588000" y="2946400"/>
            <a:ext cx="2489200" cy="304800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5664200" y="2946400"/>
            <a:ext cx="23368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670" b="1" i="0" u="none">
                <a:solidFill>
                  <a:srgbClr val="1F3864"/>
                </a:solidFill>
                <a:latin typeface="Arial"/>
              </a:rPr>
              <a:t>Temporal attention front-end in v2.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381000" y="3340100"/>
            <a:ext cx="203200" cy="203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388867"/>
            <a:ext cx="105664" cy="105664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647700" y="3327400"/>
            <a:ext cx="74295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References by domain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81000" y="3594100"/>
            <a:ext cx="2514600" cy="2654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457200" y="3644900"/>
            <a:ext cx="23622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40" b="1" i="0" u="none">
                <a:solidFill>
                  <a:srgbClr val="0070C0"/>
                </a:solidFill>
                <a:latin typeface="Arial"/>
              </a:rPr>
              <a:t>Super-resolution methods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57200" y="3822700"/>
            <a:ext cx="2387600" cy="2400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[1] Aybar et al., 2025. SEN2SR, radiometrically &amp; spatially consistent SR for Sentinel-2. Remote Sens. Environ.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[2] Wan et al., 2024. SPAN: Swift Parameter-free Attention Network. CVPRW.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[3] Liang et al., 2021. SwinIR. ICCVW.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[4] Wang et al., 2018. ESRGAN. ECCVW.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[5] Yue et al., 2023. ResShift, efficient diffusion SR. NeurIPS.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[6] Donike et al., 2025. Trustworthy S2 SR with latent diffusion.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[7] DiffFuSR, 2025. All-band S2 SR. arXiv 2506.11764.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2971800" y="3594100"/>
            <a:ext cx="2514600" cy="2654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3048000" y="3644900"/>
            <a:ext cx="23622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40" b="1" i="0" u="none">
                <a:solidFill>
                  <a:srgbClr val="0070C0"/>
                </a:solidFill>
                <a:latin typeface="Arial"/>
              </a:rPr>
              <a:t>Multi-image, data &amp; benchmarks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3048000" y="3822700"/>
            <a:ext cx="2387600" cy="2400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[8] Deudon et al., 2020. HighRes-net. arXiv 2002.06460.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[9] Aybar et al., 2024. SEN2NAIP. Scientific Data.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[10] Cornebise et al., 2022. WorldStrat. NeurIPS D&amp;B.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[11] MuS2, 2023. Multi-image S2 SR benchmark. Scientific Data.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[12] ESA OpenSR. opensr-test benchmark (GitHub).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[13] GeoSR-Bench, 2026. Downstream-task SR benchmark. arXiv 2605.00310.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562600" y="3594100"/>
            <a:ext cx="2514600" cy="2654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5638800" y="3644900"/>
            <a:ext cx="23622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740" b="1" i="0" u="none">
                <a:solidFill>
                  <a:srgbClr val="0070C0"/>
                </a:solidFill>
                <a:latin typeface="Arial"/>
              </a:rPr>
              <a:t>Uncertainty &amp; data / tools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638800" y="3822700"/>
            <a:ext cx="2387600" cy="2400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[14] Lakshminarayanan et al., 2017. Deep ensembles. NeurIPS.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[15] Wang et al., 2019. Test-time augmentation uncertainty. Neurocomputing.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[16] Angelopoulos &amp; Bates, 2021. Conformal prediction. arXiv 2107.07511.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[17] ESA. Sentinel-2 MSI user guide (bands, MTF).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[18] Copernicus Data Space · Element 84 Earth Search.</a:t>
            </a:r>
          </a:p>
          <a:p>
            <a:pPr algn="l">
              <a:spcAft>
                <a:spcPts val="320"/>
              </a:spcAft>
            </a:pPr>
            <a:r>
              <a:rPr sz="690" b="0" i="0" u="none">
                <a:solidFill>
                  <a:srgbClr val="1A1F2B"/>
                </a:solidFill>
                <a:latin typeface="Arial"/>
              </a:rPr>
              <a:t>[19] ONNX Runtime Web (WASM / WebGPU).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204200" y="1320800"/>
            <a:ext cx="3606800" cy="4927600"/>
          </a:xfrm>
          <a:prstGeom prst="roundRect">
            <a:avLst>
              <a:gd name="adj" fmla="val 4000"/>
            </a:avLst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8356600" y="13970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FFB454"/>
                </a:solidFill>
                <a:latin typeface="Arial"/>
              </a:rPr>
              <a:t>PROJECT RESOURCES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356600" y="1651000"/>
            <a:ext cx="1041400" cy="1041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qr_d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7400" y="1701800"/>
            <a:ext cx="939800" cy="93980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9499600" y="1828800"/>
            <a:ext cx="2184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Live web app</a:t>
            </a:r>
          </a:p>
          <a:p>
            <a:pPr algn="l">
              <a:spcAft>
                <a:spcPts val="0"/>
              </a:spcAft>
            </a:pPr>
            <a:r>
              <a:rPr sz="640" b="0" i="0" u="none">
                <a:solidFill>
                  <a:srgbClr val="7EC8F0"/>
                </a:solidFill>
                <a:latin typeface="Arial"/>
              </a:rPr>
              <a:t>uchihadzoro.github.io/Deep-Learning-Super-Resolution-Mapping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356600" y="2819400"/>
            <a:ext cx="1041400" cy="1041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7" name="Picture 17456" descr="qr_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400" y="2870200"/>
            <a:ext cx="939800" cy="939800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9499600" y="2997200"/>
            <a:ext cx="2184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Source code (GitHub)</a:t>
            </a:r>
          </a:p>
          <a:p>
            <a:pPr algn="l">
              <a:spcAft>
                <a:spcPts val="0"/>
              </a:spcAft>
            </a:pPr>
            <a:r>
              <a:rPr sz="640" b="0" i="0" u="none">
                <a:solidFill>
                  <a:srgbClr val="7EC8F0"/>
                </a:solidFill>
                <a:latin typeface="Arial"/>
              </a:rPr>
              <a:t>github.com/UchihaDZoro/Deep-Learning-Super-Resolution-Mapping</a:t>
            </a:r>
          </a:p>
        </p:txBody>
      </p:sp>
      <p:sp>
        <p:nvSpPr>
          <p:cNvPr id="17459" name="Oval 17458"/>
          <p:cNvSpPr/>
          <p:nvPr/>
        </p:nvSpPr>
        <p:spPr>
          <a:xfrm>
            <a:off x="8356600" y="4102100"/>
            <a:ext cx="279400" cy="2794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0" name="Picture 17459" descr="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656" y="4169155"/>
            <a:ext cx="145288" cy="145288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8737600" y="40640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FFFFFF"/>
                </a:solidFill>
                <a:latin typeface="Arial"/>
              </a:rPr>
              <a:t>Technical design document</a:t>
            </a:r>
          </a:p>
          <a:p>
            <a:pPr algn="l">
              <a:spcAft>
                <a:spcPts val="0"/>
              </a:spcAft>
            </a:pPr>
            <a:r>
              <a:rPr sz="650" b="0" i="0" u="none">
                <a:solidFill>
                  <a:srgbClr val="C9D6EA"/>
                </a:solidFill>
                <a:latin typeface="Arial"/>
              </a:rPr>
              <a:t>TECHNICAL_DESIGN.md in the repository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8356600" y="4533900"/>
            <a:ext cx="279400" cy="279400"/>
          </a:xfrm>
          <a:prstGeom prst="ellipse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3" name="Picture 17462" descr="youtu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656" y="4600956"/>
            <a:ext cx="145288" cy="145288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8737600" y="44958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FFFFFF"/>
                </a:solidFill>
                <a:latin typeface="Arial"/>
              </a:rPr>
              <a:t>Demo video</a:t>
            </a:r>
          </a:p>
          <a:p>
            <a:pPr algn="l">
              <a:spcAft>
                <a:spcPts val="0"/>
              </a:spcAft>
            </a:pPr>
            <a:r>
              <a:rPr sz="650" b="0" i="0" u="none">
                <a:solidFill>
                  <a:srgbClr val="FFB454"/>
                </a:solidFill>
                <a:latin typeface="Arial"/>
              </a:rPr>
              <a:t>[add YouTube link]</a:t>
            </a:r>
          </a:p>
        </p:txBody>
      </p:sp>
      <p:sp>
        <p:nvSpPr>
          <p:cNvPr id="17465" name="Oval 17464"/>
          <p:cNvSpPr/>
          <p:nvPr/>
        </p:nvSpPr>
        <p:spPr>
          <a:xfrm>
            <a:off x="8356600" y="4965700"/>
            <a:ext cx="279400" cy="2794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6" name="Picture 17465" descr="f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656" y="5032756"/>
            <a:ext cx="145288" cy="145288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8737600" y="49276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FFFFFF"/>
                </a:solidFill>
                <a:latin typeface="Arial"/>
              </a:rPr>
              <a:t>Implementation plan</a:t>
            </a:r>
          </a:p>
          <a:p>
            <a:pPr algn="l">
              <a:spcAft>
                <a:spcPts val="0"/>
              </a:spcAft>
            </a:pPr>
            <a:r>
              <a:rPr sz="650" b="0" i="0" u="none">
                <a:solidFill>
                  <a:srgbClr val="C9D6EA"/>
                </a:solidFill>
                <a:latin typeface="Arial"/>
              </a:rPr>
              <a:t>IMPLEMENTATION_PLAN.md in the repository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356600" y="5740400"/>
            <a:ext cx="3302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630" b="1" i="0" u="none">
                <a:solidFill>
                  <a:srgbClr val="FFFFFF"/>
                </a:solidFill>
                <a:latin typeface="Arial"/>
              </a:rPr>
              <a:t>Model credit: </a:t>
            </a:r>
            <a:r>
              <a:rPr sz="630" b="0" i="0" u="none">
                <a:solidFill>
                  <a:srgbClr val="C9D6EA"/>
                </a:solidFill>
                <a:latin typeface="Arial"/>
              </a:rPr>
              <a:t>SEN2SR-Lite (ESA OpenSR, CC0-1.0) is the v1 baseline. The pipeline, trust layer, validation, ONNX engine and web app are ours.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